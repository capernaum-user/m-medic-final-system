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60" r:id="rId5"/>
    <p:sldId id="259" r:id="rId6"/>
    <p:sldId id="261" r:id="rId7"/>
    <p:sldId id="262" r:id="rId8"/>
    <p:sldId id="265" r:id="rId9"/>
    <p:sldId id="264" r:id="rId10"/>
    <p:sldId id="263" r:id="rId11"/>
    <p:sldId id="266" r:id="rId12"/>
  </p:sldIdLst>
  <p:sldSz cx="12192000" cy="6858000" type="screen4x3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10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pPr lvl="0"/>
            <a:endParaRPr lang="en-US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40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2450" y="405765"/>
            <a:ext cx="36576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6009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ko-KR" altLang="en-US" sz="2200" b="1" dirty="0">
                <a:solidFill>
                  <a:srgbClr val="ffffff"/>
                </a:solidFill>
              </a:rPr>
              <a:t>엣지</a:t>
            </a:r>
            <a:r>
              <a:rPr lang="en-US" altLang="ko-KR" sz="2200" b="1" dirty="0">
                <a:solidFill>
                  <a:srgbClr val="ffffff"/>
                </a:solidFill>
              </a:rPr>
              <a:t> AI</a:t>
            </a:r>
            <a:r>
              <a:rPr lang="ko-KR" altLang="en-US" sz="2200" b="1" dirty="0">
                <a:solidFill>
                  <a:srgbClr val="ffffff"/>
                </a:solidFill>
              </a:rPr>
              <a:t>기반</a:t>
            </a:r>
            <a:r>
              <a:rPr lang="en-US" altLang="ko-KR" sz="2200" b="1" dirty="0">
                <a:solidFill>
                  <a:srgbClr val="ffffff"/>
                </a:solidFill>
              </a:rPr>
              <a:t> </a:t>
            </a:r>
            <a:r>
              <a:rPr lang="ko-KR" altLang="en-US" sz="2200" b="1" dirty="0">
                <a:solidFill>
                  <a:srgbClr val="ffffff"/>
                </a:solidFill>
              </a:rPr>
              <a:t>헬스케어서비스</a:t>
            </a:r>
            <a:r>
              <a:rPr lang="en-US" altLang="ko-KR" sz="2200" b="1" dirty="0">
                <a:solidFill>
                  <a:srgbClr val="ffffff"/>
                </a:solidFill>
              </a:rPr>
              <a:t> </a:t>
            </a:r>
            <a:r>
              <a:rPr lang="ko-KR" altLang="en-US" sz="2200" b="1" dirty="0">
                <a:solidFill>
                  <a:srgbClr val="ffffff"/>
                </a:solidFill>
              </a:rPr>
              <a:t>개발자과정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94895"/>
            <a:ext cx="7645400" cy="1371165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선박 탑재형 엣지 </a:t>
            </a:r>
            <a:endParaRPr lang="en-US" altLang="ko-KR" sz="46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응급 의료 지원 시스템</a:t>
            </a:r>
            <a:endParaRPr lang="en-US" sz="4600" dirty="0"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7660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</a:rPr>
              <a:t>화면설계서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126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2026. 04. 21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88100" y="5303520"/>
            <a:ext cx="5499100" cy="36576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 algn="r">
              <a:buNone/>
            </a:pPr>
            <a:r>
              <a:rPr lang="en-US" b="1" dirty="0">
                <a:solidFill>
                  <a:srgbClr val="000000"/>
                </a:solidFill>
              </a:rPr>
              <a:t>팀명 : </a:t>
            </a:r>
            <a:r>
              <a:rPr lang="en-US" dirty="0">
                <a:solidFill>
                  <a:srgbClr val="000000"/>
                </a:solidFill>
              </a:rPr>
              <a:t>MDTS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0666" y="5669280"/>
            <a:ext cx="6466534" cy="36576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 algn="r">
              <a:buNone/>
            </a:pPr>
            <a:r>
              <a:rPr lang="en-US" b="1" dirty="0">
                <a:solidFill>
                  <a:srgbClr val="000000"/>
                </a:solidFill>
              </a:rPr>
              <a:t>팀원 : </a:t>
            </a:r>
            <a:r>
              <a:rPr lang="ko-KR" altLang="en-US" b="1" dirty="0">
                <a:solidFill>
                  <a:srgbClr val="000000"/>
                </a:solidFill>
              </a:rPr>
              <a:t>송승현</a:t>
            </a:r>
            <a:r>
              <a:rPr lang="en-US" altLang="ko-KR" b="1" dirty="0">
                <a:solidFill>
                  <a:srgbClr val="000000"/>
                </a:solidFill>
              </a:rPr>
              <a:t> / </a:t>
            </a:r>
            <a:r>
              <a:rPr lang="ko-KR" altLang="en-US" b="1" dirty="0">
                <a:solidFill>
                  <a:srgbClr val="000000"/>
                </a:solidFill>
              </a:rPr>
              <a:t>최재선</a:t>
            </a:r>
            <a:r>
              <a:rPr lang="en-US" altLang="ko-KR" b="1" dirty="0">
                <a:solidFill>
                  <a:srgbClr val="000000"/>
                </a:solidFill>
              </a:rPr>
              <a:t> / </a:t>
            </a:r>
            <a:r>
              <a:rPr lang="ko-KR" altLang="en-US" b="1" dirty="0">
                <a:solidFill>
                  <a:srgbClr val="000000"/>
                </a:solidFill>
              </a:rPr>
              <a:t>권태향</a:t>
            </a:r>
            <a:r>
              <a:rPr lang="en-US" altLang="ko-KR" b="1" dirty="0">
                <a:solidFill>
                  <a:srgbClr val="000000"/>
                </a:solidFill>
              </a:rPr>
              <a:t> / </a:t>
            </a:r>
            <a:r>
              <a:rPr lang="ko-KR" altLang="en-US" b="1" dirty="0">
                <a:solidFill>
                  <a:srgbClr val="000000"/>
                </a:solidFill>
              </a:rPr>
              <a:t>김태용</a:t>
            </a:r>
            <a:r>
              <a:rPr lang="en-US" altLang="ko-KR" b="1" dirty="0">
                <a:solidFill>
                  <a:srgbClr val="000000"/>
                </a:solidFill>
              </a:rPr>
              <a:t> / </a:t>
            </a:r>
            <a:r>
              <a:rPr lang="ko-KR" altLang="en-US" b="1" dirty="0">
                <a:solidFill>
                  <a:srgbClr val="000000"/>
                </a:solidFill>
              </a:rPr>
              <a:t>이엘리사</a:t>
            </a:r>
            <a:r>
              <a:rPr lang="en-US" altLang="ko-KR" b="1" dirty="0">
                <a:solidFill>
                  <a:srgbClr val="000000"/>
                </a:solidFill>
              </a:rPr>
              <a:t> / </a:t>
            </a:r>
            <a:r>
              <a:rPr lang="ko-KR" altLang="en-US" b="1" dirty="0">
                <a:solidFill>
                  <a:srgbClr val="000000"/>
                </a:solidFill>
              </a:rPr>
              <a:t>김명기</a:t>
            </a:r>
            <a:endParaRPr lang="en-US" dirty="0"/>
          </a:p>
        </p:txBody>
      </p:sp>
      <p:sp>
        <p:nvSpPr>
          <p:cNvPr id="11" name="TextBox"/>
          <p:cNvSpPr txBox="1"/>
          <p:nvPr/>
        </p:nvSpPr>
        <p:spPr>
          <a:xfrm>
            <a:off x="9801225" y="3943350"/>
            <a:ext cx="2060575" cy="381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</a:rPr>
              <a:t>MDTS</a:t>
            </a:r>
            <a:r>
              <a:rPr lang="en-US" altLang="ko-KR" sz="2200" b="1" dirty="0">
                <a:solidFill>
                  <a:srgbClr val="ffffff"/>
                </a:solidFill>
              </a:rPr>
              <a:t>(Medical + Digitising)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변경이력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800862"/>
            <a:ext cx="115214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20040" y="969010"/>
          <a:ext cx="11521440" cy="914400"/>
        </p:xfrm>
        <a:graphic>
          <a:graphicData uri="http://schemas.openxmlformats.org/drawingml/2006/table">
            <a:tbl>
              <a:tblGrid>
                <a:gridCol w="914400"/>
                <a:gridCol w="1371600"/>
                <a:gridCol w="6400800"/>
                <a:gridCol w="1371600"/>
                <a:gridCol w="1463040"/>
              </a:tblGrid>
              <a:tr h="41148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버전</a:t>
                      </a:r>
                      <a:endParaRPr lang="en-US" sz="13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작성일자</a:t>
                      </a:r>
                      <a:endParaRPr lang="en-US" sz="13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수정사항</a:t>
                      </a:r>
                      <a:endParaRPr lang="en-US" sz="13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 lang="en-US" sz="13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검수자</a:t>
                      </a:r>
                      <a:endParaRPr lang="en-US" sz="13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595959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</a:t>
                      </a: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2026.04.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 로그인, 메인 대시보드, 응급처치 가이드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선원관리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환자차트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설정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</a:rPr>
                        <a:t>화면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이엘리사</a:t>
                      </a: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송승현</a:t>
                      </a: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11480"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11480"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11480"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11480"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11480"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91440" marR="9144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267158"/>
            <a:ext cx="11521440" cy="2070705"/>
          </a:xfrm>
          <a:prstGeom prst="rect">
            <a:avLst/>
          </a:prstGeom>
          <a:noFill/>
          <a:ln/>
        </p:spPr>
        <p:txBody>
          <a:bodyPr wrap="square" rtlCol="0" anchor="ctr"/>
          <a:p>
            <a:pPr lvl="0"/>
            <a:r>
              <a:rPr lang="ko-KR" altLang="en-US" sz="1200" b="1" dirty="0"/>
              <a:t>작성방법</a:t>
            </a:r>
            <a:r>
              <a:rPr lang="en-US" altLang="ko-KR" sz="1200" b="1" dirty="0"/>
              <a:t>)</a:t>
            </a:r>
            <a:endParaRPr lang="en-US" altLang="ko-KR" sz="1200" b="1" dirty="0"/>
          </a:p>
          <a:p>
            <a:pPr lvl="0"/>
            <a:r>
              <a:rPr lang="en-US" altLang="ko-KR" sz="1200" dirty="0"/>
              <a:t>1.</a:t>
            </a:r>
            <a:r>
              <a:rPr lang="ko-KR" altLang="en-US" sz="1200" dirty="0"/>
              <a:t> 화면설계서가 수정될 때마다 버전</a:t>
            </a:r>
            <a:r>
              <a:rPr lang="en-US" altLang="ko-KR" sz="1200" dirty="0"/>
              <a:t>, </a:t>
            </a:r>
            <a:r>
              <a:rPr lang="ko-KR" altLang="en-US" sz="1200" dirty="0"/>
              <a:t>작성자</a:t>
            </a:r>
            <a:r>
              <a:rPr lang="en-US" altLang="ko-KR" sz="1200" dirty="0"/>
              <a:t>,</a:t>
            </a:r>
            <a:r>
              <a:rPr lang="ko-KR" altLang="en-US" sz="1200" dirty="0"/>
              <a:t> 수정사항</a:t>
            </a:r>
            <a:r>
              <a:rPr lang="en-US" altLang="ko-KR" sz="1200" dirty="0"/>
              <a:t>, </a:t>
            </a:r>
            <a:r>
              <a:rPr lang="ko-KR" altLang="en-US" sz="1200" dirty="0"/>
              <a:t>수정날짜를 작성하여 이력을 작성해야 한다</a:t>
            </a:r>
            <a:r>
              <a:rPr lang="en-US" altLang="ko-KR" sz="1200" dirty="0"/>
              <a:t>.</a:t>
            </a:r>
            <a:endParaRPr lang="en-US" altLang="ko-KR" sz="1200" dirty="0"/>
          </a:p>
          <a:p>
            <a:pPr lvl="0"/>
            <a:endParaRPr lang="en-US" altLang="ko-KR" sz="1200" dirty="0"/>
          </a:p>
          <a:p>
            <a:pPr lvl="0"/>
            <a:r>
              <a:rPr lang="en-US" altLang="ko-KR" sz="1200" dirty="0"/>
              <a:t>2. </a:t>
            </a:r>
            <a:r>
              <a:rPr lang="ko-KR" altLang="en-US" sz="1200" dirty="0"/>
              <a:t>버전은 화면설계서가 수정될 때마다 작성해야 한다</a:t>
            </a:r>
            <a:r>
              <a:rPr lang="en-US" altLang="ko-KR" sz="1200" dirty="0"/>
              <a:t>.</a:t>
            </a:r>
            <a:endParaRPr lang="en-US" altLang="ko-KR" sz="1200" dirty="0"/>
          </a:p>
          <a:p>
            <a:pPr lvl="0"/>
            <a:endParaRPr lang="en-US" altLang="ko-KR" sz="1200" dirty="0"/>
          </a:p>
          <a:p>
            <a:pPr lvl="0"/>
            <a:r>
              <a:rPr lang="en-US" altLang="ko-KR" sz="1200" dirty="0"/>
              <a:t>2. </a:t>
            </a:r>
            <a:r>
              <a:rPr lang="ko-KR" altLang="en-US" sz="1200" dirty="0"/>
              <a:t>수정사항은 과거버전 대비 어떠한 내용이 달라졌는지</a:t>
            </a:r>
            <a:r>
              <a:rPr lang="en-US" altLang="ko-KR" sz="1200" dirty="0"/>
              <a:t>(</a:t>
            </a:r>
            <a:r>
              <a:rPr lang="ko-KR" altLang="en-US" sz="1200" dirty="0"/>
              <a:t>추가</a:t>
            </a:r>
            <a:r>
              <a:rPr lang="en-US" altLang="ko-KR" sz="1200" dirty="0"/>
              <a:t>/</a:t>
            </a:r>
            <a:r>
              <a:rPr lang="ko-KR" altLang="en-US" sz="1200" dirty="0"/>
              <a:t>수정</a:t>
            </a:r>
            <a:r>
              <a:rPr lang="en-US" altLang="ko-KR" sz="1200" dirty="0"/>
              <a:t>/</a:t>
            </a:r>
            <a:r>
              <a:rPr lang="ko-KR" altLang="en-US" sz="1200" dirty="0"/>
              <a:t>삭제</a:t>
            </a:r>
            <a:r>
              <a:rPr lang="en-US" altLang="ko-KR" sz="1200" dirty="0"/>
              <a:t>)</a:t>
            </a:r>
            <a:r>
              <a:rPr lang="ko-KR" altLang="en-US" sz="1200" dirty="0"/>
              <a:t>를 작성해야 한다</a:t>
            </a:r>
            <a:r>
              <a:rPr lang="en-US" altLang="ko-KR" sz="1200" dirty="0"/>
              <a:t>. </a:t>
            </a:r>
            <a:endParaRPr lang="en-US" altLang="ko-KR" sz="1200" dirty="0"/>
          </a:p>
          <a:p>
            <a:pPr lvl="0"/>
            <a:endParaRPr lang="en-US" altLang="ko-KR" sz="1200" dirty="0"/>
          </a:p>
          <a:p>
            <a:pPr lvl="0"/>
            <a:r>
              <a:rPr lang="en-US" altLang="ko-KR" sz="1200" dirty="0"/>
              <a:t>3. </a:t>
            </a:r>
            <a:r>
              <a:rPr lang="ko-KR" altLang="en-US" sz="1200" dirty="0"/>
              <a:t>작성자는 화면설계내용을 작성한 사람이다</a:t>
            </a:r>
            <a:r>
              <a:rPr lang="en-US" altLang="ko-KR" sz="1200" dirty="0"/>
              <a:t>.</a:t>
            </a:r>
            <a:endParaRPr lang="en-US" altLang="ko-KR" sz="1200" dirty="0"/>
          </a:p>
          <a:p>
            <a:pPr lvl="0"/>
            <a:endParaRPr lang="en-US" altLang="ko-KR" sz="1200" dirty="0"/>
          </a:p>
          <a:p>
            <a:pPr lvl="0"/>
            <a:r>
              <a:rPr lang="en-US" altLang="ko-KR" sz="1200" dirty="0"/>
              <a:t>4. </a:t>
            </a:r>
            <a:r>
              <a:rPr lang="ko-KR" altLang="en-US" sz="1200" dirty="0"/>
              <a:t>검수자는 화면설계에 대해 문제가 없는지 점검하는 사람이다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lvl="0"/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5. </a:t>
            </a:r>
            <a:r>
              <a:rPr lang="ko-KR" altLang="en-US" sz="1200" dirty="0"/>
              <a:t>현재 문서를 제출할 경우 현재 작성방법에 대한 내용은 모두 지우고 제출해야 한다</a:t>
            </a:r>
            <a:r>
              <a:rPr lang="en-US" altLang="ko-KR" sz="1200" dirty="0"/>
              <a:t>.</a:t>
            </a:r>
            <a:endParaRPr lang="en-US" altLang="ko-KR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1654354" y="408446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3200" b="1" dirty="0"/>
              <a:t>메뉴 구성</a:t>
            </a:r>
            <a:endParaRPr lang="ko-KR" altLang="en-US" sz="3200" dirty="0"/>
          </a:p>
        </p:txBody>
      </p:sp>
      <p:cxnSp>
        <p:nvCxnSpPr>
          <p:cNvPr id="3" name="직선 연결선 41"/>
          <p:cNvCxnSpPr/>
          <p:nvPr/>
        </p:nvCxnSpPr>
        <p:spPr>
          <a:xfrm>
            <a:off x="1785573" y="1098958"/>
            <a:ext cx="873294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95"/>
          <p:cNvGrpSpPr/>
          <p:nvPr/>
        </p:nvGrpSpPr>
        <p:grpSpPr>
          <a:xfrm rot="0">
            <a:off x="9423336" y="408479"/>
            <a:ext cx="1238059" cy="1434703"/>
            <a:chOff x="9902819" y="1220362"/>
            <a:chExt cx="1238059" cy="1434703"/>
          </a:xfrm>
        </p:grpSpPr>
        <p:sp>
          <p:nvSpPr>
            <p:cNvPr id="5" name="직사각형 89"/>
            <p:cNvSpPr/>
            <p:nvPr/>
          </p:nvSpPr>
          <p:spPr>
            <a:xfrm>
              <a:off x="9906001" y="1561909"/>
              <a:ext cx="1234877" cy="30033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 err="1"/>
                <a:t>메인메뉴이름</a:t>
              </a:r>
              <a:endParaRPr lang="ko-KR" altLang="en-US" sz="1000" dirty="0"/>
            </a:p>
          </p:txBody>
        </p:sp>
        <p:sp>
          <p:nvSpPr>
            <p:cNvPr id="6" name="직사각형 90"/>
            <p:cNvSpPr/>
            <p:nvPr/>
          </p:nvSpPr>
          <p:spPr>
            <a:xfrm>
              <a:off x="9906000" y="190345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서브메뉴이름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91"/>
            <p:cNvSpPr/>
            <p:nvPr/>
          </p:nvSpPr>
          <p:spPr>
            <a:xfrm>
              <a:off x="9902819" y="2245004"/>
              <a:ext cx="1234877" cy="410061"/>
            </a:xfrm>
            <a:prstGeom prst="rect">
              <a:avLst/>
            </a:prstGeom>
            <a:solidFill>
              <a:srgbClr val="0090d0">
                <a:alpha val="10000"/>
              </a:srgbClr>
            </a:solidFill>
            <a:ln w="28575">
              <a:solidFill>
                <a:srgbClr val="0090d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서브메뉴 내 메뉴이름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94"/>
            <p:cNvSpPr/>
            <p:nvPr/>
          </p:nvSpPr>
          <p:spPr>
            <a:xfrm>
              <a:off x="9906000" y="1220362"/>
              <a:ext cx="1231696" cy="30033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/>
                <a:t>프로젝트명</a:t>
              </a:r>
              <a:endParaRPr lang="ko-KR" altLang="en-US" sz="1000" dirty="0"/>
            </a:p>
          </p:txBody>
        </p:sp>
      </p:grpSp>
      <p:grpSp>
        <p:nvGrpSpPr>
          <p:cNvPr id="9" name="group"/>
          <p:cNvGrpSpPr>
            <a:grpSpLocks/>
          </p:cNvGrpSpPr>
          <p:nvPr/>
        </p:nvGrpSpPr>
        <p:grpSpPr>
          <a:xfrm rot="0">
            <a:off x="1327785" y="1842770"/>
            <a:ext cx="9683115" cy="4863395"/>
            <a:chOff x="95885" y="1842770"/>
            <a:chExt cx="10076815" cy="4980305"/>
          </a:xfrm>
        </p:grpSpPr>
        <p:cxnSp>
          <p:nvCxnSpPr>
            <p:cNvPr id="10" name="직선 연결선 86"/>
            <p:cNvCxnSpPr/>
            <p:nvPr/>
          </p:nvCxnSpPr>
          <p:spPr>
            <a:xfrm rot="16200000" flipV="1">
              <a:off x="3539966" y="3871138"/>
              <a:ext cx="3322977" cy="20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79"/>
            <p:cNvCxnSpPr/>
            <p:nvPr/>
          </p:nvCxnSpPr>
          <p:spPr>
            <a:xfrm flipH="1" flipV="1">
              <a:off x="713740" y="2667239"/>
              <a:ext cx="6374" cy="16688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연결선: 꺾임 74"/>
            <p:cNvCxnSpPr/>
            <p:nvPr/>
          </p:nvCxnSpPr>
          <p:spPr>
            <a:xfrm flipV="1">
              <a:off x="713913" y="2438697"/>
              <a:ext cx="4534362" cy="363885"/>
            </a:xfrm>
            <a:prstGeom prst="bentConnector3">
              <a:avLst>
                <a:gd name="adj1" fmla="val 105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연결선: 꺾임 75"/>
            <p:cNvCxnSpPr/>
            <p:nvPr/>
          </p:nvCxnSpPr>
          <p:spPr>
            <a:xfrm rot="10800000">
              <a:off x="5219700" y="2438698"/>
              <a:ext cx="4335936" cy="364520"/>
            </a:xfrm>
            <a:prstGeom prst="bentConnector3">
              <a:avLst>
                <a:gd name="adj1" fmla="val 126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79"/>
            <p:cNvCxnSpPr/>
            <p:nvPr/>
          </p:nvCxnSpPr>
          <p:spPr>
            <a:xfrm rot="16200000" flipV="1">
              <a:off x="155054" y="4469482"/>
              <a:ext cx="4098721" cy="827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86"/>
            <p:cNvCxnSpPr/>
            <p:nvPr/>
          </p:nvCxnSpPr>
          <p:spPr>
            <a:xfrm rot="16200000" flipV="1">
              <a:off x="6166943" y="2996126"/>
              <a:ext cx="1090988" cy="1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"/>
            <p:cNvSpPr/>
            <p:nvPr/>
          </p:nvSpPr>
          <p:spPr>
            <a:xfrm>
              <a:off x="4373071" y="1843241"/>
              <a:ext cx="1558638" cy="3675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ko-KR" sz="1600" dirty="0"/>
                <a:t>MDTS </a:t>
              </a:r>
              <a:r>
                <a:rPr lang="ko-KR" altLang="en-US" sz="1600" dirty="0"/>
                <a:t>시스템</a:t>
              </a:r>
              <a:endParaRPr lang="ko-KR" altLang="en-US" sz="1600" dirty="0"/>
            </a:p>
          </p:txBody>
        </p:sp>
        <p:sp>
          <p:nvSpPr>
            <p:cNvPr id="17" name="직사각형 3"/>
            <p:cNvSpPr/>
            <p:nvPr/>
          </p:nvSpPr>
          <p:spPr>
            <a:xfrm>
              <a:off x="96473" y="2802582"/>
              <a:ext cx="1234877" cy="30033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 err="1"/>
                <a:t>로그인</a:t>
              </a:r>
              <a:endParaRPr lang="ko-KR" altLang="en-US" sz="1000" dirty="0"/>
            </a:p>
          </p:txBody>
        </p:sp>
        <p:sp>
          <p:nvSpPr>
            <p:cNvPr id="18" name="직사각형 4"/>
            <p:cNvSpPr/>
            <p:nvPr/>
          </p:nvSpPr>
          <p:spPr>
            <a:xfrm>
              <a:off x="1591115" y="2802582"/>
              <a:ext cx="1234877" cy="30033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/>
                <a:t>메인</a:t>
              </a:r>
              <a:r>
                <a:rPr lang="en-US" altLang="ko-KR" sz="1000"/>
                <a:t> </a:t>
              </a:r>
              <a:r>
                <a:rPr lang="ko-KR" altLang="en-US" sz="1000"/>
                <a:t>대시보드</a:t>
              </a:r>
              <a:endParaRPr lang="ko-KR" altLang="en-US" sz="1000" dirty="0"/>
            </a:p>
          </p:txBody>
        </p:sp>
        <p:sp>
          <p:nvSpPr>
            <p:cNvPr id="19" name="직사각형 6"/>
            <p:cNvSpPr/>
            <p:nvPr/>
          </p:nvSpPr>
          <p:spPr>
            <a:xfrm>
              <a:off x="4585041" y="2802582"/>
              <a:ext cx="1234877" cy="30033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/>
                <a:t>환자차트</a:t>
              </a:r>
              <a:endParaRPr lang="ko-KR" altLang="en-US" sz="1000" dirty="0"/>
            </a:p>
          </p:txBody>
        </p:sp>
        <p:sp>
          <p:nvSpPr>
            <p:cNvPr id="20" name="직사각형 7"/>
            <p:cNvSpPr/>
            <p:nvPr/>
          </p:nvSpPr>
          <p:spPr>
            <a:xfrm>
              <a:off x="6094925" y="2802582"/>
              <a:ext cx="1234877" cy="30033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/>
                <a:t>선원관리</a:t>
              </a:r>
              <a:endParaRPr lang="ko-KR" altLang="en-US" sz="1000" dirty="0"/>
            </a:p>
          </p:txBody>
        </p:sp>
        <p:sp>
          <p:nvSpPr>
            <p:cNvPr id="21" name="직사각형 16"/>
            <p:cNvSpPr/>
            <p:nvPr/>
          </p:nvSpPr>
          <p:spPr>
            <a:xfrm>
              <a:off x="7594536" y="2802582"/>
              <a:ext cx="1234877" cy="30033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/>
                <a:t>응급처치</a:t>
              </a:r>
              <a:endParaRPr lang="ko-KR" altLang="en-US" sz="1000" dirty="0"/>
            </a:p>
          </p:txBody>
        </p:sp>
        <p:sp>
          <p:nvSpPr>
            <p:cNvPr id="22" name="직사각형 17"/>
            <p:cNvSpPr/>
            <p:nvPr/>
          </p:nvSpPr>
          <p:spPr>
            <a:xfrm>
              <a:off x="1591115" y="324389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환자기본정보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18"/>
            <p:cNvSpPr/>
            <p:nvPr/>
          </p:nvSpPr>
          <p:spPr>
            <a:xfrm>
              <a:off x="1591115" y="398582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>
                  <a:solidFill>
                    <a:schemeClr val="tx1"/>
                  </a:solidFill>
                </a:rPr>
                <a:t>바이탈모니터링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5"/>
            <p:cNvSpPr/>
            <p:nvPr/>
          </p:nvSpPr>
          <p:spPr>
            <a:xfrm>
              <a:off x="1591115" y="573621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>
                  <a:solidFill>
                    <a:schemeClr val="tx1"/>
                  </a:solidFill>
                </a:rPr>
                <a:t>A</a:t>
              </a:r>
              <a:r>
                <a:rPr lang="en-US" altLang="ko-KR" sz="1000">
                  <a:solidFill>
                    <a:schemeClr val="tx1"/>
                  </a:solidFill>
                </a:rPr>
                <a:t>I</a:t>
              </a:r>
              <a:r>
                <a:rPr lang="ko-KR" altLang="en-US" sz="1000">
                  <a:solidFill>
                    <a:schemeClr val="tx1"/>
                  </a:solidFill>
                </a:rPr>
                <a:t>어시스턴트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32"/>
            <p:cNvSpPr/>
            <p:nvPr/>
          </p:nvSpPr>
          <p:spPr>
            <a:xfrm>
              <a:off x="4585041" y="324389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기본인적사항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33"/>
            <p:cNvSpPr/>
            <p:nvPr/>
          </p:nvSpPr>
          <p:spPr>
            <a:xfrm>
              <a:off x="4585041" y="4225550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환자증상파악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50"/>
            <p:cNvSpPr/>
            <p:nvPr/>
          </p:nvSpPr>
          <p:spPr>
            <a:xfrm>
              <a:off x="7594536" y="324389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심폐소생술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17"/>
            <p:cNvSpPr/>
            <p:nvPr/>
          </p:nvSpPr>
          <p:spPr>
            <a:xfrm>
              <a:off x="96325" y="324135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시리얼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넘버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입력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18"/>
            <p:cNvSpPr/>
            <p:nvPr/>
          </p:nvSpPr>
          <p:spPr>
            <a:xfrm>
              <a:off x="96325" y="367721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>
                  <a:solidFill>
                    <a:schemeClr val="tx1"/>
                  </a:solidFill>
                </a:rPr>
                <a:t>기기번호</a:t>
              </a:r>
              <a:r>
                <a:rPr lang="en-US" altLang="ko-KR" sz="1000">
                  <a:solidFill>
                    <a:schemeClr val="tx1"/>
                  </a:solidFill>
                </a:rPr>
                <a:t> </a:t>
              </a:r>
              <a:r>
                <a:rPr lang="ko-KR" altLang="en-US" sz="1000">
                  <a:solidFill>
                    <a:schemeClr val="tx1"/>
                  </a:solidFill>
                </a:rPr>
                <a:t>입력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5"/>
            <p:cNvSpPr/>
            <p:nvPr/>
          </p:nvSpPr>
          <p:spPr>
            <a:xfrm>
              <a:off x="96325" y="411696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>
                  <a:solidFill>
                    <a:schemeClr val="tx1"/>
                  </a:solidFill>
                </a:rPr>
                <a:t>선박</a:t>
              </a:r>
              <a:r>
                <a:rPr lang="en-US" altLang="ko-KR" sz="1000">
                  <a:solidFill>
                    <a:schemeClr val="tx1"/>
                  </a:solidFill>
                </a:rPr>
                <a:t> </a:t>
              </a:r>
              <a:r>
                <a:rPr lang="ko-KR" altLang="en-US" sz="1000">
                  <a:solidFill>
                    <a:schemeClr val="tx1"/>
                  </a:solidFill>
                </a:rPr>
                <a:t>번호</a:t>
              </a:r>
              <a:r>
                <a:rPr lang="en-US" altLang="ko-KR" sz="1000">
                  <a:solidFill>
                    <a:schemeClr val="tx1"/>
                  </a:solidFill>
                </a:rPr>
                <a:t> </a:t>
              </a:r>
              <a:r>
                <a:rPr lang="ko-KR" altLang="en-US" sz="1000">
                  <a:solidFill>
                    <a:schemeClr val="tx1"/>
                  </a:solidFill>
                </a:rPr>
                <a:t>입력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70"/>
            <p:cNvSpPr/>
            <p:nvPr/>
          </p:nvSpPr>
          <p:spPr>
            <a:xfrm>
              <a:off x="2275891" y="4471366"/>
              <a:ext cx="1440180" cy="466290"/>
            </a:xfrm>
            <a:prstGeom prst="rect">
              <a:avLst/>
            </a:prstGeom>
            <a:solidFill>
              <a:srgbClr val="0090d0">
                <a:alpha val="10000"/>
              </a:srgbClr>
            </a:solidFill>
            <a:ln w="28575">
              <a:solidFill>
                <a:srgbClr val="0090d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32" name="직사각형 66"/>
            <p:cNvSpPr/>
            <p:nvPr/>
          </p:nvSpPr>
          <p:spPr>
            <a:xfrm>
              <a:off x="2378543" y="4545422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HR / SpO2 / BP / BT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3" name="직사각형 70"/>
            <p:cNvSpPr/>
            <p:nvPr/>
          </p:nvSpPr>
          <p:spPr>
            <a:xfrm>
              <a:off x="2275891" y="6092521"/>
              <a:ext cx="1440180" cy="374634"/>
            </a:xfrm>
            <a:prstGeom prst="rect">
              <a:avLst/>
            </a:prstGeom>
            <a:solidFill>
              <a:srgbClr val="0090d0">
                <a:alpha val="10000"/>
              </a:srgbClr>
            </a:solidFill>
            <a:ln w="28575">
              <a:solidFill>
                <a:srgbClr val="0090d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34" name="직사각형 66"/>
            <p:cNvSpPr/>
            <p:nvPr/>
          </p:nvSpPr>
          <p:spPr>
            <a:xfrm>
              <a:off x="2378543" y="6129747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증상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질의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응답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5" name="직사각형 25"/>
            <p:cNvSpPr/>
            <p:nvPr/>
          </p:nvSpPr>
          <p:spPr>
            <a:xfrm>
              <a:off x="1591115" y="6522981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상황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대응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타임라인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70"/>
            <p:cNvSpPr/>
            <p:nvPr/>
          </p:nvSpPr>
          <p:spPr>
            <a:xfrm>
              <a:off x="2932481" y="2791791"/>
              <a:ext cx="1440180" cy="1544287"/>
            </a:xfrm>
            <a:prstGeom prst="rect">
              <a:avLst/>
            </a:prstGeom>
            <a:solidFill>
              <a:srgbClr val="0090d0">
                <a:alpha val="10000"/>
              </a:srgbClr>
            </a:solidFill>
            <a:ln w="28575">
              <a:solidFill>
                <a:srgbClr val="0090d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37" name="직사각형 66"/>
            <p:cNvSpPr/>
            <p:nvPr/>
          </p:nvSpPr>
          <p:spPr>
            <a:xfrm>
              <a:off x="3035133" y="2865847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신체정보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67"/>
            <p:cNvSpPr/>
            <p:nvPr/>
          </p:nvSpPr>
          <p:spPr>
            <a:xfrm>
              <a:off x="3035133" y="3217685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알레르기</a:t>
              </a:r>
              <a:r>
                <a:rPr lang="en-US" altLang="ko-KR" sz="900" dirty="0">
                  <a:solidFill>
                    <a:schemeClr val="tx1"/>
                  </a:solidFill>
                </a:rPr>
                <a:t>/</a:t>
              </a:r>
              <a:r>
                <a:rPr lang="ko-KR" altLang="en-US" sz="900" dirty="0">
                  <a:solidFill>
                    <a:schemeClr val="tx1"/>
                  </a:solidFill>
                </a:rPr>
                <a:t>주의사항</a:t>
              </a:r>
              <a:endParaRPr lang="en-US" altLang="ko-KR" sz="9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복욕중약물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67"/>
            <p:cNvSpPr/>
            <p:nvPr/>
          </p:nvSpPr>
          <p:spPr>
            <a:xfrm>
              <a:off x="3035133" y="3569475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최근진료이력</a:t>
              </a:r>
              <a:r>
                <a:rPr lang="en-US" altLang="ko-KR" sz="800" dirty="0">
                  <a:solidFill>
                    <a:schemeClr val="tx1"/>
                  </a:solidFill>
                </a:rPr>
                <a:t> </a:t>
              </a:r>
              <a:r>
                <a:rPr lang="ko-KR" altLang="en-US" sz="800" dirty="0">
                  <a:solidFill>
                    <a:schemeClr val="tx1"/>
                  </a:solidFill>
                </a:rPr>
                <a:t>및</a:t>
              </a:r>
              <a:r>
                <a:rPr lang="en-US" altLang="ko-KR" sz="800" dirty="0">
                  <a:solidFill>
                    <a:schemeClr val="tx1"/>
                  </a:solidFill>
                </a:rPr>
                <a:t> </a:t>
              </a:r>
              <a:r>
                <a:rPr lang="ko-KR" altLang="en-US" sz="800" dirty="0">
                  <a:solidFill>
                    <a:schemeClr val="tx1"/>
                  </a:solidFill>
                </a:rPr>
                <a:t>응급처치</a:t>
              </a:r>
              <a:r>
                <a:rPr lang="en-US" altLang="ko-KR" sz="800" dirty="0">
                  <a:solidFill>
                    <a:schemeClr val="tx1"/>
                  </a:solidFill>
                </a:rPr>
                <a:t> </a:t>
              </a:r>
              <a:r>
                <a:rPr lang="ko-KR" altLang="en-US" sz="800" dirty="0">
                  <a:solidFill>
                    <a:schemeClr val="tx1"/>
                  </a:solidFill>
                </a:rPr>
                <a:t>상비약</a:t>
              </a:r>
              <a:r>
                <a:rPr lang="en-US" altLang="ko-KR" sz="800" dirty="0">
                  <a:solidFill>
                    <a:schemeClr val="tx1"/>
                  </a:solidFill>
                </a:rPr>
                <a:t> </a:t>
              </a:r>
              <a:r>
                <a:rPr lang="ko-KR" altLang="en-US" sz="800" dirty="0">
                  <a:solidFill>
                    <a:schemeClr val="tx1"/>
                  </a:solidFill>
                </a:rPr>
                <a:t>로그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67"/>
            <p:cNvSpPr/>
            <p:nvPr/>
          </p:nvSpPr>
          <p:spPr>
            <a:xfrm>
              <a:off x="3035133" y="3965715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위치</a:t>
              </a:r>
              <a:r>
                <a:rPr lang="en-US" altLang="ko-KR" sz="900" dirty="0">
                  <a:solidFill>
                    <a:schemeClr val="tx1"/>
                  </a:solidFill>
                </a:rPr>
                <a:t> </a:t>
              </a:r>
              <a:r>
                <a:rPr lang="ko-KR" altLang="en-US" sz="900" dirty="0">
                  <a:solidFill>
                    <a:schemeClr val="tx1"/>
                  </a:solidFill>
                </a:rPr>
                <a:t>및</a:t>
              </a:r>
              <a:r>
                <a:rPr lang="en-US" altLang="ko-KR" sz="900" dirty="0">
                  <a:solidFill>
                    <a:schemeClr val="tx1"/>
                  </a:solidFill>
                </a:rPr>
                <a:t> </a:t>
              </a:r>
              <a:r>
                <a:rPr lang="ko-KR" altLang="en-US" sz="900" dirty="0">
                  <a:solidFill>
                    <a:schemeClr val="tx1"/>
                  </a:solidFill>
                </a:rPr>
                <a:t>승선정보</a:t>
              </a:r>
              <a:endParaRPr lang="en-US" altLang="ko-KR" sz="9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비상연락처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16"/>
            <p:cNvSpPr/>
            <p:nvPr/>
          </p:nvSpPr>
          <p:spPr>
            <a:xfrm>
              <a:off x="8938196" y="2803217"/>
              <a:ext cx="1234877" cy="30033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/>
                <a:t>시스템설정</a:t>
              </a:r>
              <a:endParaRPr lang="ko-KR" altLang="en-US" sz="1000" dirty="0"/>
            </a:p>
          </p:txBody>
        </p:sp>
        <p:sp>
          <p:nvSpPr>
            <p:cNvPr id="42" name="직사각형 50"/>
            <p:cNvSpPr/>
            <p:nvPr/>
          </p:nvSpPr>
          <p:spPr>
            <a:xfrm>
              <a:off x="8938196" y="3244531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기기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및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통신관리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51"/>
            <p:cNvSpPr/>
            <p:nvPr/>
          </p:nvSpPr>
          <p:spPr>
            <a:xfrm>
              <a:off x="8938196" y="3680391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>
                  <a:solidFill>
                    <a:schemeClr val="tx1"/>
                  </a:solidFill>
                </a:rPr>
                <a:t>기기정보</a:t>
              </a:r>
              <a:r>
                <a:rPr lang="en-US" altLang="ko-KR" sz="1000">
                  <a:solidFill>
                    <a:schemeClr val="tx1"/>
                  </a:solidFill>
                </a:rPr>
                <a:t> </a:t>
              </a:r>
              <a:r>
                <a:rPr lang="ko-KR" altLang="en-US" sz="1000">
                  <a:solidFill>
                    <a:schemeClr val="tx1"/>
                  </a:solidFill>
                </a:rPr>
                <a:t>수정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44" name="직선 연결선 86"/>
            <p:cNvCxnSpPr/>
            <p:nvPr/>
          </p:nvCxnSpPr>
          <p:spPr>
            <a:xfrm flipV="1">
              <a:off x="8222394" y="2450704"/>
              <a:ext cx="0" cy="35187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직사각형 33"/>
            <p:cNvSpPr/>
            <p:nvPr/>
          </p:nvSpPr>
          <p:spPr>
            <a:xfrm>
              <a:off x="4585041" y="4701800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안진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33"/>
            <p:cNvSpPr/>
            <p:nvPr/>
          </p:nvSpPr>
          <p:spPr>
            <a:xfrm>
              <a:off x="4585041" y="5117725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의표판단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33"/>
            <p:cNvSpPr/>
            <p:nvPr/>
          </p:nvSpPr>
          <p:spPr>
            <a:xfrm>
              <a:off x="4585041" y="5533650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조치내역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및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계획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32"/>
            <p:cNvSpPr/>
            <p:nvPr/>
          </p:nvSpPr>
          <p:spPr>
            <a:xfrm>
              <a:off x="4585041" y="366553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바이탈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32"/>
            <p:cNvSpPr/>
            <p:nvPr/>
          </p:nvSpPr>
          <p:spPr>
            <a:xfrm>
              <a:off x="6095071" y="324135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전체선원목록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70"/>
            <p:cNvSpPr/>
            <p:nvPr/>
          </p:nvSpPr>
          <p:spPr>
            <a:xfrm>
              <a:off x="5986831" y="3665551"/>
              <a:ext cx="1440180" cy="1868136"/>
            </a:xfrm>
            <a:prstGeom prst="rect">
              <a:avLst/>
            </a:prstGeom>
            <a:solidFill>
              <a:srgbClr val="0090d0">
                <a:alpha val="10000"/>
              </a:srgbClr>
            </a:solidFill>
            <a:ln w="28575">
              <a:solidFill>
                <a:srgbClr val="0090d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51" name="직사각형 66"/>
            <p:cNvSpPr/>
            <p:nvPr/>
          </p:nvSpPr>
          <p:spPr>
            <a:xfrm>
              <a:off x="6089483" y="3739607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부서별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필터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67"/>
            <p:cNvSpPr/>
            <p:nvPr/>
          </p:nvSpPr>
          <p:spPr>
            <a:xfrm>
              <a:off x="6089483" y="4091445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선원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상세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정보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3" name="직사각형 67"/>
            <p:cNvSpPr/>
            <p:nvPr/>
          </p:nvSpPr>
          <p:spPr>
            <a:xfrm>
              <a:off x="6089483" y="4443235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신규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선원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등록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4" name="직사각형 67"/>
            <p:cNvSpPr/>
            <p:nvPr/>
          </p:nvSpPr>
          <p:spPr>
            <a:xfrm>
              <a:off x="6089483" y="4806455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응급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환자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전환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67"/>
            <p:cNvSpPr/>
            <p:nvPr/>
          </p:nvSpPr>
          <p:spPr>
            <a:xfrm>
              <a:off x="6089483" y="5146815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선원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검색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6" name="직사각형 50"/>
            <p:cNvSpPr/>
            <p:nvPr/>
          </p:nvSpPr>
          <p:spPr>
            <a:xfrm>
              <a:off x="7594536" y="3569651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하임리히법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0"/>
            <p:cNvSpPr/>
            <p:nvPr/>
          </p:nvSpPr>
          <p:spPr>
            <a:xfrm>
              <a:off x="7594536" y="3925251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기도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확보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0"/>
            <p:cNvSpPr/>
            <p:nvPr/>
          </p:nvSpPr>
          <p:spPr>
            <a:xfrm>
              <a:off x="7594536" y="4280851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지혈</a:t>
              </a:r>
              <a:r>
                <a:rPr lang="en-US" altLang="ko-KR" sz="1000" dirty="0">
                  <a:solidFill>
                    <a:schemeClr val="tx1"/>
                  </a:solidFill>
                </a:rPr>
                <a:t>/</a:t>
              </a:r>
              <a:r>
                <a:rPr lang="ko-KR" altLang="en-US" sz="1000" dirty="0">
                  <a:solidFill>
                    <a:schemeClr val="tx1"/>
                  </a:solidFill>
                </a:rPr>
                <a:t>압박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9" name="직사각형 50"/>
            <p:cNvSpPr/>
            <p:nvPr/>
          </p:nvSpPr>
          <p:spPr>
            <a:xfrm>
              <a:off x="7593901" y="463708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화상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0"/>
            <p:cNvSpPr/>
            <p:nvPr/>
          </p:nvSpPr>
          <p:spPr>
            <a:xfrm>
              <a:off x="7594536" y="5002211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익수</a:t>
              </a:r>
              <a:r>
                <a:rPr lang="en-US" altLang="ko-KR" sz="1000" dirty="0">
                  <a:solidFill>
                    <a:schemeClr val="tx1"/>
                  </a:solidFill>
                </a:rPr>
                <a:t>/</a:t>
              </a:r>
              <a:r>
                <a:rPr lang="ko-KR" altLang="en-US" sz="1000" dirty="0">
                  <a:solidFill>
                    <a:schemeClr val="tx1"/>
                  </a:solidFill>
                </a:rPr>
                <a:t>저체온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50"/>
            <p:cNvSpPr/>
            <p:nvPr/>
          </p:nvSpPr>
          <p:spPr>
            <a:xfrm>
              <a:off x="7593901" y="536733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골절</a:t>
              </a:r>
              <a:r>
                <a:rPr lang="en-US" altLang="ko-KR" sz="1000" dirty="0">
                  <a:solidFill>
                    <a:schemeClr val="tx1"/>
                  </a:solidFill>
                </a:rPr>
                <a:t>/</a:t>
              </a:r>
              <a:r>
                <a:rPr lang="ko-KR" altLang="en-US" sz="1000" dirty="0">
                  <a:solidFill>
                    <a:schemeClr val="tx1"/>
                  </a:solidFill>
                </a:rPr>
                <a:t>탈구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2" name="직사각형 50"/>
            <p:cNvSpPr/>
            <p:nvPr/>
          </p:nvSpPr>
          <p:spPr>
            <a:xfrm>
              <a:off x="7594536" y="5704521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상처세척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50"/>
            <p:cNvSpPr/>
            <p:nvPr/>
          </p:nvSpPr>
          <p:spPr>
            <a:xfrm>
              <a:off x="7593901" y="603662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환자기본정보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및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바이탈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4" name="직사각형 50"/>
            <p:cNvSpPr/>
            <p:nvPr/>
          </p:nvSpPr>
          <p:spPr>
            <a:xfrm>
              <a:off x="7593901" y="6368731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대응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타임라인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5" name="직사각형 51"/>
            <p:cNvSpPr/>
            <p:nvPr/>
          </p:nvSpPr>
          <p:spPr>
            <a:xfrm>
              <a:off x="8938196" y="404043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>
                  <a:solidFill>
                    <a:schemeClr val="tx1"/>
                  </a:solidFill>
                </a:rPr>
                <a:t>육상과</a:t>
              </a:r>
              <a:r>
                <a:rPr lang="en-US" altLang="ko-KR" sz="1000">
                  <a:solidFill>
                    <a:schemeClr val="tx1"/>
                  </a:solidFill>
                </a:rPr>
                <a:t> </a:t>
              </a:r>
              <a:r>
                <a:rPr lang="ko-KR" altLang="en-US" sz="1000">
                  <a:solidFill>
                    <a:schemeClr val="tx1"/>
                  </a:solidFill>
                </a:rPr>
                <a:t>연결상태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6" name="직사각형 51"/>
            <p:cNvSpPr/>
            <p:nvPr/>
          </p:nvSpPr>
          <p:spPr>
            <a:xfrm>
              <a:off x="8938196" y="4417626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>
                  <a:solidFill>
                    <a:schemeClr val="tx1"/>
                  </a:solidFill>
                </a:rPr>
                <a:t>기기</a:t>
              </a:r>
              <a:r>
                <a:rPr lang="en-US" altLang="ko-KR" sz="1000">
                  <a:solidFill>
                    <a:schemeClr val="tx1"/>
                  </a:solidFill>
                </a:rPr>
                <a:t> </a:t>
              </a:r>
              <a:r>
                <a:rPr lang="ko-KR" altLang="en-US" sz="1000">
                  <a:solidFill>
                    <a:schemeClr val="tx1"/>
                  </a:solidFill>
                </a:rPr>
                <a:t>작동상태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7" name="직사각형 51"/>
            <p:cNvSpPr/>
            <p:nvPr/>
          </p:nvSpPr>
          <p:spPr>
            <a:xfrm>
              <a:off x="8938196" y="4808151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>
                  <a:solidFill>
                    <a:schemeClr val="tx1"/>
                  </a:solidFill>
                </a:rPr>
                <a:t>최근</a:t>
              </a:r>
              <a:r>
                <a:rPr lang="en-US" altLang="ko-KR" sz="1000">
                  <a:solidFill>
                    <a:schemeClr val="tx1"/>
                  </a:solidFill>
                </a:rPr>
                <a:t> </a:t>
              </a:r>
              <a:r>
                <a:rPr lang="ko-KR" altLang="en-US" sz="1000">
                  <a:solidFill>
                    <a:schemeClr val="tx1"/>
                  </a:solidFill>
                </a:rPr>
                <a:t>시스템기록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1591143" y="5038865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응급처치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액션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9" name="직사각형 67"/>
            <p:cNvSpPr/>
            <p:nvPr/>
          </p:nvSpPr>
          <p:spPr>
            <a:xfrm>
              <a:off x="1591143" y="5387480"/>
              <a:ext cx="1234877" cy="3003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90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A</a:t>
              </a:r>
              <a:r>
                <a:rPr lang="en-US" altLang="ko-KR" sz="1000" dirty="0">
                  <a:solidFill>
                    <a:schemeClr val="tx1"/>
                  </a:solidFill>
                </a:rPr>
                <a:t>I </a:t>
              </a:r>
              <a:r>
                <a:rPr lang="ko-KR" altLang="en-US" sz="1000" dirty="0">
                  <a:solidFill>
                    <a:schemeClr val="tx1"/>
                  </a:solidFill>
                </a:rPr>
                <a:t>외상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촬영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분석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700" y="266706"/>
            <a:ext cx="12192000" cy="62366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4"/>
          <p:cNvSpPr/>
          <p:nvPr/>
        </p:nvSpPr>
        <p:spPr>
          <a:xfrm>
            <a:off x="2852421" y="4836160"/>
            <a:ext cx="8402320" cy="192024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93720" y="50266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화면설명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3093720" y="5269738"/>
            <a:ext cx="7244082" cy="137160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시리얼 넘버, 기기 번호, 선박 번호 입력 필드 제공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입력 완료 후 시스템 접속 버튼 클릭으로 로그인 처리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인증 실패 시 오류 메시지 알림 표시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로그인 성공 시 메인 대시보드로 이동</a:t>
            </a:r>
            <a:endParaRPr lang="en-US" sz="1600" dirty="0"/>
          </a:p>
        </p:txBody>
      </p:sp>
      <p:sp>
        <p:nvSpPr>
          <p:cNvPr id="20" name="직사각형 3"/>
          <p:cNvSpPr/>
          <p:nvPr/>
        </p:nvSpPr>
        <p:spPr>
          <a:xfrm>
            <a:off x="-2540" y="-3808"/>
            <a:ext cx="2743201" cy="685799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21" name="직사각형 1"/>
          <p:cNvSpPr/>
          <p:nvPr/>
        </p:nvSpPr>
        <p:spPr>
          <a:xfrm>
            <a:off x="-2540" y="-3808"/>
            <a:ext cx="2743201" cy="6857996"/>
          </a:xfrm>
          <a:prstGeom prst="rect">
            <a:avLst/>
          </a:prstGeom>
          <a:solidFill>
            <a:srgbClr val="696969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grpSp>
        <p:nvGrpSpPr>
          <p:cNvPr id="22" name="그룹 2"/>
          <p:cNvGrpSpPr/>
          <p:nvPr/>
        </p:nvGrpSpPr>
        <p:grpSpPr>
          <a:xfrm rot="0">
            <a:off x="283516" y="431574"/>
            <a:ext cx="2171089" cy="608077"/>
            <a:chOff x="276836" y="269845"/>
            <a:chExt cx="2171089" cy="608077"/>
          </a:xfrm>
        </p:grpSpPr>
        <p:sp>
          <p:nvSpPr>
            <p:cNvPr id="23" name="TextBox 4"/>
            <p:cNvSpPr txBox="1"/>
            <p:nvPr/>
          </p:nvSpPr>
          <p:spPr>
            <a:xfrm>
              <a:off x="276836" y="269845"/>
              <a:ext cx="872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 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6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MAIN_LOGIN_01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그룹 7"/>
          <p:cNvGrpSpPr/>
          <p:nvPr/>
        </p:nvGrpSpPr>
        <p:grpSpPr>
          <a:xfrm rot="0">
            <a:off x="283516" y="1314698"/>
            <a:ext cx="2171089" cy="792743"/>
            <a:chOff x="276836" y="1474033"/>
            <a:chExt cx="2171089" cy="792743"/>
          </a:xfrm>
        </p:grpSpPr>
        <p:sp>
          <p:nvSpPr>
            <p:cNvPr id="26" name="TextBox 8"/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19"/>
            <p:cNvSpPr txBox="1"/>
            <p:nvPr/>
          </p:nvSpPr>
          <p:spPr>
            <a:xfrm>
              <a:off x="276836" y="1805111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로그인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그룹 20"/>
          <p:cNvGrpSpPr/>
          <p:nvPr/>
        </p:nvGrpSpPr>
        <p:grpSpPr>
          <a:xfrm rot="0">
            <a:off x="283516" y="2382488"/>
            <a:ext cx="2171089" cy="608077"/>
            <a:chOff x="276836" y="2678221"/>
            <a:chExt cx="2171089" cy="608077"/>
          </a:xfrm>
        </p:grpSpPr>
        <p:sp>
          <p:nvSpPr>
            <p:cNvPr id="29" name="TextBox 21"/>
            <p:cNvSpPr txBox="1"/>
            <p:nvPr/>
          </p:nvSpPr>
          <p:spPr>
            <a:xfrm>
              <a:off x="276836" y="2678221"/>
              <a:ext cx="1898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관련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유스케이스</a:t>
              </a:r>
              <a:r>
                <a:rPr lang="ko-KR" altLang="en-US" sz="16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2"/>
            <p:cNvSpPr txBox="1"/>
            <p:nvPr/>
          </p:nvSpPr>
          <p:spPr>
            <a:xfrm>
              <a:off x="276836" y="3009299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UC_AUTH_01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그룹 23"/>
          <p:cNvGrpSpPr/>
          <p:nvPr/>
        </p:nvGrpSpPr>
        <p:grpSpPr>
          <a:xfrm rot="0">
            <a:off x="283516" y="5810729"/>
            <a:ext cx="2171089" cy="608077"/>
            <a:chOff x="276836" y="3666966"/>
            <a:chExt cx="2171089" cy="608077"/>
          </a:xfrm>
        </p:grpSpPr>
        <p:sp>
          <p:nvSpPr>
            <p:cNvPr id="32" name="TextBox 24"/>
            <p:cNvSpPr txBox="1"/>
            <p:nvPr/>
          </p:nvSpPr>
          <p:spPr>
            <a:xfrm>
              <a:off x="276836" y="366696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작성자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25"/>
            <p:cNvSpPr txBox="1"/>
            <p:nvPr/>
          </p:nvSpPr>
          <p:spPr>
            <a:xfrm>
              <a:off x="276836" y="3998044"/>
              <a:ext cx="2171065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ko-KR" altLang="en-US" sz="1200" dirty="0">
                  <a:solidFill>
                    <a:schemeClr val="bg1"/>
                  </a:solidFill>
                </a:rPr>
                <a:t>팀장 </a:t>
              </a:r>
              <a:r>
                <a:rPr lang="en-US" altLang="ko-KR" sz="1200" dirty="0">
                  <a:solidFill>
                    <a:schemeClr val="bg1"/>
                  </a:solidFill>
                </a:rPr>
                <a:t> </a:t>
              </a:r>
              <a:r>
                <a:rPr lang="ko-KR" altLang="en-US" sz="1200" dirty="0">
                  <a:solidFill>
                    <a:schemeClr val="bg1"/>
                  </a:solidFill>
                </a:rPr>
                <a:t>송승현 </a:t>
              </a:r>
              <a:endParaRPr lang="en-US" altLang="ko-KR" sz="1200" dirty="0">
                <a:solidFill>
                  <a:schemeClr val="bg1"/>
                </a:solidFill>
              </a:endParaRPr>
            </a:p>
            <a:p>
              <a:pPr lvl="0"/>
              <a:r>
                <a:rPr lang="ko-KR" altLang="en-US" sz="1200" dirty="0">
                  <a:solidFill>
                    <a:schemeClr val="bg1"/>
                  </a:solidFill>
                </a:rPr>
                <a:t>팀원 이엘리사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그룹 38"/>
          <p:cNvGrpSpPr/>
          <p:nvPr/>
        </p:nvGrpSpPr>
        <p:grpSpPr>
          <a:xfrm rot="0">
            <a:off x="283515" y="3286253"/>
            <a:ext cx="2171089" cy="792743"/>
            <a:chOff x="276836" y="269845"/>
            <a:chExt cx="2171089" cy="792743"/>
          </a:xfrm>
        </p:grpSpPr>
        <p:sp>
          <p:nvSpPr>
            <p:cNvPr id="35" name="TextBox 39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화면개요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40"/>
            <p:cNvSpPr txBox="1"/>
            <p:nvPr/>
          </p:nvSpPr>
          <p:spPr>
            <a:xfrm>
              <a:off x="276836" y="600923"/>
              <a:ext cx="2171065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선박 기기 인증 및 시스템 접속 화면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그룹 11"/>
          <p:cNvGrpSpPr/>
          <p:nvPr/>
        </p:nvGrpSpPr>
        <p:grpSpPr>
          <a:xfrm rot="0">
            <a:off x="283515" y="4500455"/>
            <a:ext cx="2371420" cy="608077"/>
            <a:chOff x="276836" y="269845"/>
            <a:chExt cx="2171089" cy="608077"/>
          </a:xfrm>
        </p:grpSpPr>
        <p:sp>
          <p:nvSpPr>
            <p:cNvPr id="38" name="TextBox 12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메뉴경로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9" name="TextBox 13"/>
            <p:cNvSpPr txBox="1"/>
            <p:nvPr/>
          </p:nvSpPr>
          <p:spPr>
            <a:xfrm>
              <a:off x="276836" y="600923"/>
              <a:ext cx="2171368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앱 시작 / 로그인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40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52742" y="-3172"/>
            <a:ext cx="8402279" cy="48398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"/>
          <p:cNvSpPr/>
          <p:nvPr/>
        </p:nvSpPr>
        <p:spPr>
          <a:xfrm>
            <a:off x="2852421" y="4690109"/>
            <a:ext cx="8836661" cy="192024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5"/>
          <p:cNvSpPr/>
          <p:nvPr/>
        </p:nvSpPr>
        <p:spPr>
          <a:xfrm>
            <a:off x="3093720" y="4880609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화면설명</a:t>
            </a:r>
            <a:endParaRPr lang="en-US" sz="1700" dirty="0"/>
          </a:p>
        </p:txBody>
      </p:sp>
      <p:sp>
        <p:nvSpPr>
          <p:cNvPr id="4" name="Text 16"/>
          <p:cNvSpPr/>
          <p:nvPr/>
        </p:nvSpPr>
        <p:spPr>
          <a:xfrm>
            <a:off x="3093720" y="5123687"/>
            <a:ext cx="7244082" cy="137160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상단: 현재 환자 기본정보 (이름/나이/혈액형/직위)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실시간 바이탈 수치 (HR·SpO2·혈압·체온) 카드형 표시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AI 채팅 어시스턴트로 응급처치 판단 지원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빠른 응급처치 액션 버튼 및 외상 촬영 AI 분석</a:t>
            </a:r>
            <a:endParaRPr lang="en-US" sz="1600" dirty="0"/>
          </a:p>
        </p:txBody>
      </p:sp>
      <p:sp>
        <p:nvSpPr>
          <p:cNvPr id="5" name="직사각형 3"/>
          <p:cNvSpPr/>
          <p:nvPr/>
        </p:nvSpPr>
        <p:spPr>
          <a:xfrm>
            <a:off x="-2540" y="-3808"/>
            <a:ext cx="2743201" cy="685799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6" name="직사각형 1"/>
          <p:cNvSpPr/>
          <p:nvPr/>
        </p:nvSpPr>
        <p:spPr>
          <a:xfrm>
            <a:off x="-2540" y="-3808"/>
            <a:ext cx="2743201" cy="6857996"/>
          </a:xfrm>
          <a:prstGeom prst="rect">
            <a:avLst/>
          </a:prstGeom>
          <a:solidFill>
            <a:srgbClr val="696969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grpSp>
        <p:nvGrpSpPr>
          <p:cNvPr id="7" name="그룹 2"/>
          <p:cNvGrpSpPr/>
          <p:nvPr/>
        </p:nvGrpSpPr>
        <p:grpSpPr>
          <a:xfrm rot="0">
            <a:off x="283516" y="431574"/>
            <a:ext cx="2171065" cy="605398"/>
            <a:chOff x="276836" y="269845"/>
            <a:chExt cx="2171065" cy="605398"/>
          </a:xfrm>
        </p:grpSpPr>
        <p:sp>
          <p:nvSpPr>
            <p:cNvPr id="8" name="TextBox 4"/>
            <p:cNvSpPr txBox="1"/>
            <p:nvPr/>
          </p:nvSpPr>
          <p:spPr>
            <a:xfrm>
              <a:off x="276836" y="269845"/>
              <a:ext cx="872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 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6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MAIN_DASH_01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7"/>
          <p:cNvGrpSpPr/>
          <p:nvPr/>
        </p:nvGrpSpPr>
        <p:grpSpPr>
          <a:xfrm rot="0">
            <a:off x="283516" y="1314698"/>
            <a:ext cx="2171065" cy="605398"/>
            <a:chOff x="276836" y="1474033"/>
            <a:chExt cx="2171065" cy="605398"/>
          </a:xfrm>
        </p:grpSpPr>
        <p:sp>
          <p:nvSpPr>
            <p:cNvPr id="11" name="TextBox 8"/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9"/>
            <p:cNvSpPr txBox="1"/>
            <p:nvPr/>
          </p:nvSpPr>
          <p:spPr>
            <a:xfrm>
              <a:off x="276836" y="1805111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메인 대시보드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그룹 20"/>
          <p:cNvGrpSpPr/>
          <p:nvPr/>
        </p:nvGrpSpPr>
        <p:grpSpPr>
          <a:xfrm rot="0">
            <a:off x="283516" y="2382488"/>
            <a:ext cx="2171065" cy="605398"/>
            <a:chOff x="276836" y="2678221"/>
            <a:chExt cx="2171065" cy="605398"/>
          </a:xfrm>
        </p:grpSpPr>
        <p:sp>
          <p:nvSpPr>
            <p:cNvPr id="14" name="TextBox 21"/>
            <p:cNvSpPr txBox="1"/>
            <p:nvPr/>
          </p:nvSpPr>
          <p:spPr>
            <a:xfrm>
              <a:off x="276836" y="2678221"/>
              <a:ext cx="1898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관련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유스케이스</a:t>
              </a:r>
              <a:r>
                <a:rPr lang="ko-KR" altLang="en-US" sz="16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22"/>
            <p:cNvSpPr txBox="1"/>
            <p:nvPr/>
          </p:nvSpPr>
          <p:spPr>
            <a:xfrm>
              <a:off x="276836" y="3009299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UC_MAIN_01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그룹 23"/>
          <p:cNvGrpSpPr/>
          <p:nvPr/>
        </p:nvGrpSpPr>
        <p:grpSpPr>
          <a:xfrm rot="0">
            <a:off x="283516" y="5810729"/>
            <a:ext cx="2171065" cy="788278"/>
            <a:chOff x="276836" y="3666966"/>
            <a:chExt cx="2171065" cy="788278"/>
          </a:xfrm>
        </p:grpSpPr>
        <p:sp>
          <p:nvSpPr>
            <p:cNvPr id="17" name="TextBox 24"/>
            <p:cNvSpPr txBox="1"/>
            <p:nvPr/>
          </p:nvSpPr>
          <p:spPr>
            <a:xfrm>
              <a:off x="276836" y="366696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작성자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25"/>
            <p:cNvSpPr txBox="1"/>
            <p:nvPr/>
          </p:nvSpPr>
          <p:spPr>
            <a:xfrm>
              <a:off x="276836" y="3998044"/>
              <a:ext cx="2171065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ko-KR" altLang="en-US" sz="1200" dirty="0">
                  <a:solidFill>
                    <a:schemeClr val="bg1"/>
                  </a:solidFill>
                </a:rPr>
                <a:t>팀장 </a:t>
              </a:r>
              <a:r>
                <a:rPr lang="en-US" altLang="ko-KR" sz="1200" dirty="0">
                  <a:solidFill>
                    <a:schemeClr val="bg1"/>
                  </a:solidFill>
                </a:rPr>
                <a:t> </a:t>
              </a:r>
              <a:r>
                <a:rPr lang="ko-KR" altLang="en-US" sz="1200" dirty="0">
                  <a:solidFill>
                    <a:schemeClr val="bg1"/>
                  </a:solidFill>
                </a:rPr>
                <a:t>송승현 </a:t>
              </a:r>
              <a:endParaRPr lang="en-US" altLang="ko-KR" sz="1200" dirty="0">
                <a:solidFill>
                  <a:schemeClr val="bg1"/>
                </a:solidFill>
              </a:endParaRPr>
            </a:p>
            <a:p>
              <a:pPr lvl="0"/>
              <a:r>
                <a:rPr lang="ko-KR" altLang="en-US" sz="1200" dirty="0">
                  <a:solidFill>
                    <a:schemeClr val="bg1"/>
                  </a:solidFill>
                </a:rPr>
                <a:t>팀원 이엘리사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그룹 38"/>
          <p:cNvGrpSpPr/>
          <p:nvPr/>
        </p:nvGrpSpPr>
        <p:grpSpPr>
          <a:xfrm rot="0">
            <a:off x="283515" y="3286253"/>
            <a:ext cx="2171065" cy="788278"/>
            <a:chOff x="276836" y="269845"/>
            <a:chExt cx="2171065" cy="788278"/>
          </a:xfrm>
        </p:grpSpPr>
        <p:sp>
          <p:nvSpPr>
            <p:cNvPr id="20" name="TextBox 39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화면개요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40"/>
            <p:cNvSpPr txBox="1"/>
            <p:nvPr/>
          </p:nvSpPr>
          <p:spPr>
            <a:xfrm>
              <a:off x="276836" y="600923"/>
              <a:ext cx="2171065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바이탈 모니터링 및 </a:t>
              </a:r>
              <a:endParaRPr lang="en-US" altLang="ko-KR" sz="1200" dirty="0">
                <a:solidFill>
                  <a:srgbClr val="ffffff"/>
                </a:solidFill>
              </a:endParaRPr>
            </a:p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AI 어시스턴트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그룹 11"/>
          <p:cNvGrpSpPr/>
          <p:nvPr/>
        </p:nvGrpSpPr>
        <p:grpSpPr>
          <a:xfrm rot="0">
            <a:off x="283515" y="4500455"/>
            <a:ext cx="2371725" cy="605398"/>
            <a:chOff x="276836" y="269845"/>
            <a:chExt cx="2171368" cy="605398"/>
          </a:xfrm>
        </p:grpSpPr>
        <p:sp>
          <p:nvSpPr>
            <p:cNvPr id="23" name="TextBox 12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메뉴경로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13"/>
            <p:cNvSpPr txBox="1"/>
            <p:nvPr/>
          </p:nvSpPr>
          <p:spPr>
            <a:xfrm>
              <a:off x="276836" y="600923"/>
              <a:ext cx="2171368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메인 / 대시보드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5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52442" y="541474"/>
            <a:ext cx="8836638" cy="41485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"/>
          <p:cNvSpPr/>
          <p:nvPr/>
        </p:nvSpPr>
        <p:spPr>
          <a:xfrm>
            <a:off x="2852421" y="4690109"/>
            <a:ext cx="8836661" cy="192024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5"/>
          <p:cNvSpPr/>
          <p:nvPr/>
        </p:nvSpPr>
        <p:spPr>
          <a:xfrm>
            <a:off x="3093720" y="4880609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화면설명</a:t>
            </a:r>
            <a:endParaRPr lang="en-US" sz="1700" dirty="0"/>
          </a:p>
        </p:txBody>
      </p:sp>
      <p:sp>
        <p:nvSpPr>
          <p:cNvPr id="4" name="Text 16"/>
          <p:cNvSpPr/>
          <p:nvPr/>
        </p:nvSpPr>
        <p:spPr>
          <a:xfrm>
            <a:off x="3093720" y="5123687"/>
            <a:ext cx="7244082" cy="137160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좌측: 환자 기본 정보 (기저질환·알레르기·약물)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</a:t>
            </a:r>
            <a:r>
              <a:rPr lang="ko-KR" altLang="en-US" sz="1600" dirty="0">
                <a:solidFill>
                  <a:srgbClr val="333333"/>
                </a:solidFill>
              </a:rPr>
              <a:t>상단</a:t>
            </a:r>
            <a:r>
              <a:rPr lang="en-US" sz="1600" dirty="0">
                <a:solidFill>
                  <a:srgbClr val="333333"/>
                </a:solidFill>
              </a:rPr>
              <a:t>: 바이탈 차트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</a:t>
            </a:r>
            <a:r>
              <a:rPr lang="ko-KR" altLang="en-US" sz="1600" dirty="0">
                <a:solidFill>
                  <a:srgbClr val="333333"/>
                </a:solidFill>
              </a:rPr>
              <a:t>중앙</a:t>
            </a:r>
            <a:r>
              <a:rPr lang="en-US" sz="1600" dirty="0">
                <a:solidFill>
                  <a:srgbClr val="333333"/>
                </a:solidFill>
              </a:rPr>
              <a:t>: </a:t>
            </a:r>
            <a:r>
              <a:rPr lang="ko-KR" altLang="en-US" sz="1600" dirty="0">
                <a:solidFill>
                  <a:srgbClr val="333333"/>
                </a:solidFill>
              </a:rPr>
              <a:t>환자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증상파악</a:t>
            </a:r>
            <a:r>
              <a:rPr lang="en-US" altLang="ko-KR" sz="1600" dirty="0">
                <a:solidFill>
                  <a:srgbClr val="333333"/>
                </a:solidFill>
              </a:rPr>
              <a:t> (</a:t>
            </a:r>
            <a:r>
              <a:rPr lang="ko-KR" altLang="en-US" sz="1600" dirty="0">
                <a:solidFill>
                  <a:srgbClr val="333333"/>
                </a:solidFill>
              </a:rPr>
              <a:t>발생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시각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및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장소</a:t>
            </a:r>
            <a:r>
              <a:rPr lang="en-US" altLang="ko-KR" sz="1600" dirty="0">
                <a:solidFill>
                  <a:srgbClr val="333333"/>
                </a:solidFill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</a:rPr>
              <a:t>통증부위</a:t>
            </a:r>
            <a:r>
              <a:rPr lang="en-US" altLang="ko-KR" sz="1600" dirty="0">
                <a:solidFill>
                  <a:srgbClr val="333333"/>
                </a:solidFill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</a:rPr>
              <a:t>통증강도</a:t>
            </a:r>
            <a:r>
              <a:rPr lang="en-US" altLang="ko-KR" sz="1600" dirty="0">
                <a:solidFill>
                  <a:srgbClr val="333333"/>
                </a:solidFill>
              </a:rPr>
              <a:t>), </a:t>
            </a:r>
            <a:r>
              <a:rPr lang="ko-KR" altLang="en-US" sz="1600" dirty="0">
                <a:solidFill>
                  <a:srgbClr val="333333"/>
                </a:solidFill>
              </a:rPr>
              <a:t>안진</a:t>
            </a:r>
            <a:r>
              <a:rPr lang="en-US" altLang="ko-KR" sz="1600" dirty="0">
                <a:solidFill>
                  <a:srgbClr val="333333"/>
                </a:solidFill>
              </a:rPr>
              <a:t>,     </a:t>
            </a:r>
            <a:endParaRPr lang="en-US" altLang="ko-KR" sz="16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rgbClr val="333333"/>
                </a:solidFill>
              </a:rPr>
              <a:t>              </a:t>
            </a:r>
            <a:r>
              <a:rPr lang="ko-KR" altLang="en-US" sz="1600" dirty="0">
                <a:solidFill>
                  <a:srgbClr val="333333"/>
                </a:solidFill>
              </a:rPr>
              <a:t>환부사진촬영</a:t>
            </a:r>
            <a:r>
              <a:rPr lang="en-US" altLang="ko-KR" sz="1600" dirty="0">
                <a:solidFill>
                  <a:srgbClr val="333333"/>
                </a:solidFill>
              </a:rPr>
              <a:t>,</a:t>
            </a:r>
            <a:r>
              <a:rPr lang="ko-KR" altLang="en-US" sz="1600" dirty="0">
                <a:solidFill>
                  <a:srgbClr val="333333"/>
                </a:solidFill>
              </a:rPr>
              <a:t>의료판단</a:t>
            </a:r>
            <a:r>
              <a:rPr lang="en-US" altLang="ko-KR" sz="1600" dirty="0">
                <a:solidFill>
                  <a:srgbClr val="333333"/>
                </a:solidFill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</a:rPr>
              <a:t>조치내역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및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계획</a:t>
            </a:r>
            <a:endParaRPr lang="en-US" altLang="ko-KR" sz="16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en-US" sz="1600" dirty="0">
                <a:solidFill>
                  <a:srgbClr val="333333"/>
                </a:solidFill>
              </a:rPr>
              <a:t>- 하단: </a:t>
            </a:r>
            <a:r>
              <a:rPr lang="ko-KR" altLang="en-US" sz="1600" dirty="0">
                <a:solidFill>
                  <a:srgbClr val="333333"/>
                </a:solidFill>
              </a:rPr>
              <a:t>차트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저장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및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원격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보고</a:t>
            </a:r>
            <a:endParaRPr lang="en-US" sz="1600" dirty="0"/>
          </a:p>
        </p:txBody>
      </p:sp>
      <p:sp>
        <p:nvSpPr>
          <p:cNvPr id="5" name="직사각형 3"/>
          <p:cNvSpPr/>
          <p:nvPr/>
        </p:nvSpPr>
        <p:spPr>
          <a:xfrm>
            <a:off x="-2540" y="-3808"/>
            <a:ext cx="2743201" cy="685799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6" name="직사각형 1"/>
          <p:cNvSpPr/>
          <p:nvPr/>
        </p:nvSpPr>
        <p:spPr>
          <a:xfrm>
            <a:off x="-2540" y="-3808"/>
            <a:ext cx="2743201" cy="6857996"/>
          </a:xfrm>
          <a:prstGeom prst="rect">
            <a:avLst/>
          </a:prstGeom>
          <a:solidFill>
            <a:srgbClr val="696969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grpSp>
        <p:nvGrpSpPr>
          <p:cNvPr id="7" name="그룹 2"/>
          <p:cNvGrpSpPr/>
          <p:nvPr/>
        </p:nvGrpSpPr>
        <p:grpSpPr>
          <a:xfrm rot="0">
            <a:off x="283516" y="431574"/>
            <a:ext cx="2171065" cy="605398"/>
            <a:chOff x="276836" y="269845"/>
            <a:chExt cx="2171065" cy="605398"/>
          </a:xfrm>
        </p:grpSpPr>
        <p:sp>
          <p:nvSpPr>
            <p:cNvPr id="8" name="TextBox 4"/>
            <p:cNvSpPr txBox="1"/>
            <p:nvPr/>
          </p:nvSpPr>
          <p:spPr>
            <a:xfrm>
              <a:off x="276836" y="269845"/>
              <a:ext cx="872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 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6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MAIN_PTNT_01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7"/>
          <p:cNvGrpSpPr/>
          <p:nvPr/>
        </p:nvGrpSpPr>
        <p:grpSpPr>
          <a:xfrm rot="0">
            <a:off x="283516" y="1314698"/>
            <a:ext cx="2171065" cy="605398"/>
            <a:chOff x="276836" y="1474033"/>
            <a:chExt cx="2171065" cy="605398"/>
          </a:xfrm>
        </p:grpSpPr>
        <p:sp>
          <p:nvSpPr>
            <p:cNvPr id="11" name="TextBox 8"/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9"/>
            <p:cNvSpPr txBox="1"/>
            <p:nvPr/>
          </p:nvSpPr>
          <p:spPr>
            <a:xfrm>
              <a:off x="276836" y="1805111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환자 차트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그룹 20"/>
          <p:cNvGrpSpPr/>
          <p:nvPr/>
        </p:nvGrpSpPr>
        <p:grpSpPr>
          <a:xfrm rot="0">
            <a:off x="283516" y="2382488"/>
            <a:ext cx="2171065" cy="605398"/>
            <a:chOff x="276836" y="2678221"/>
            <a:chExt cx="2171065" cy="605398"/>
          </a:xfrm>
        </p:grpSpPr>
        <p:sp>
          <p:nvSpPr>
            <p:cNvPr id="14" name="TextBox 21"/>
            <p:cNvSpPr txBox="1"/>
            <p:nvPr/>
          </p:nvSpPr>
          <p:spPr>
            <a:xfrm>
              <a:off x="276836" y="2678221"/>
              <a:ext cx="1898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관련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유스케이스</a:t>
              </a:r>
              <a:r>
                <a:rPr lang="ko-KR" altLang="en-US" sz="16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22"/>
            <p:cNvSpPr txBox="1"/>
            <p:nvPr/>
          </p:nvSpPr>
          <p:spPr>
            <a:xfrm>
              <a:off x="276836" y="3009299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UC_PTNT_01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그룹 23"/>
          <p:cNvGrpSpPr/>
          <p:nvPr/>
        </p:nvGrpSpPr>
        <p:grpSpPr>
          <a:xfrm rot="0">
            <a:off x="283516" y="5810729"/>
            <a:ext cx="2171065" cy="788278"/>
            <a:chOff x="276836" y="3666966"/>
            <a:chExt cx="2171065" cy="788278"/>
          </a:xfrm>
        </p:grpSpPr>
        <p:sp>
          <p:nvSpPr>
            <p:cNvPr id="17" name="TextBox 24"/>
            <p:cNvSpPr txBox="1"/>
            <p:nvPr/>
          </p:nvSpPr>
          <p:spPr>
            <a:xfrm>
              <a:off x="276836" y="366696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작성자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25"/>
            <p:cNvSpPr txBox="1"/>
            <p:nvPr/>
          </p:nvSpPr>
          <p:spPr>
            <a:xfrm>
              <a:off x="276836" y="3998044"/>
              <a:ext cx="2171065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ko-KR" altLang="en-US" sz="1200" dirty="0">
                  <a:solidFill>
                    <a:schemeClr val="bg1"/>
                  </a:solidFill>
                </a:rPr>
                <a:t>팀장 </a:t>
              </a:r>
              <a:r>
                <a:rPr lang="en-US" altLang="ko-KR" sz="1200" dirty="0">
                  <a:solidFill>
                    <a:schemeClr val="bg1"/>
                  </a:solidFill>
                </a:rPr>
                <a:t> </a:t>
              </a:r>
              <a:r>
                <a:rPr lang="ko-KR" altLang="en-US" sz="1200" dirty="0">
                  <a:solidFill>
                    <a:schemeClr val="bg1"/>
                  </a:solidFill>
                </a:rPr>
                <a:t>송승현 </a:t>
              </a:r>
              <a:endParaRPr lang="en-US" altLang="ko-KR" sz="1200" dirty="0">
                <a:solidFill>
                  <a:schemeClr val="bg1"/>
                </a:solidFill>
              </a:endParaRPr>
            </a:p>
            <a:p>
              <a:pPr lvl="0"/>
              <a:r>
                <a:rPr lang="ko-KR" altLang="en-US" sz="1200" dirty="0">
                  <a:solidFill>
                    <a:schemeClr val="bg1"/>
                  </a:solidFill>
                </a:rPr>
                <a:t>팀원 이엘리사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그룹 38"/>
          <p:cNvGrpSpPr/>
          <p:nvPr/>
        </p:nvGrpSpPr>
        <p:grpSpPr>
          <a:xfrm rot="0">
            <a:off x="283515" y="3286253"/>
            <a:ext cx="2171065" cy="788278"/>
            <a:chOff x="276836" y="269845"/>
            <a:chExt cx="2171065" cy="788278"/>
          </a:xfrm>
        </p:grpSpPr>
        <p:sp>
          <p:nvSpPr>
            <p:cNvPr id="20" name="TextBox 39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화면개요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40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개별 환자 상세 의료 차트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그룹 11"/>
          <p:cNvGrpSpPr/>
          <p:nvPr/>
        </p:nvGrpSpPr>
        <p:grpSpPr>
          <a:xfrm rot="0">
            <a:off x="283515" y="4500455"/>
            <a:ext cx="2371725" cy="605398"/>
            <a:chOff x="276836" y="269845"/>
            <a:chExt cx="2171368" cy="605398"/>
          </a:xfrm>
        </p:grpSpPr>
        <p:sp>
          <p:nvSpPr>
            <p:cNvPr id="23" name="TextBox 12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메뉴경로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13"/>
            <p:cNvSpPr txBox="1"/>
            <p:nvPr/>
          </p:nvSpPr>
          <p:spPr>
            <a:xfrm>
              <a:off x="276836" y="600923"/>
              <a:ext cx="2171368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메인 / 환자 차트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5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52785" y="494030"/>
            <a:ext cx="8824230" cy="41957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"/>
          <p:cNvSpPr/>
          <p:nvPr/>
        </p:nvSpPr>
        <p:spPr>
          <a:xfrm>
            <a:off x="2852421" y="4690109"/>
            <a:ext cx="8836661" cy="192024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5"/>
          <p:cNvSpPr/>
          <p:nvPr/>
        </p:nvSpPr>
        <p:spPr>
          <a:xfrm>
            <a:off x="3093720" y="4880609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화면설명</a:t>
            </a:r>
            <a:endParaRPr lang="en-US" sz="1700" dirty="0"/>
          </a:p>
        </p:txBody>
      </p:sp>
      <p:sp>
        <p:nvSpPr>
          <p:cNvPr id="4" name="Text 16"/>
          <p:cNvSpPr/>
          <p:nvPr/>
        </p:nvSpPr>
        <p:spPr>
          <a:xfrm>
            <a:off x="3093720" y="5123687"/>
            <a:ext cx="8698229" cy="137160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탭 필터: 전체 / 응급환자 / 항해부 / 기관부 / </a:t>
            </a:r>
            <a:r>
              <a:rPr lang="ko-KR" altLang="en-US" sz="1600" dirty="0">
                <a:solidFill>
                  <a:srgbClr val="333333"/>
                </a:solidFill>
              </a:rPr>
              <a:t>조리</a:t>
            </a:r>
            <a:r>
              <a:rPr lang="en-US" altLang="ko-KR" sz="1600" dirty="0">
                <a:solidFill>
                  <a:srgbClr val="333333"/>
                </a:solidFill>
              </a:rPr>
              <a:t>&amp;</a:t>
            </a:r>
            <a:r>
              <a:rPr lang="en-US" sz="1600" dirty="0">
                <a:solidFill>
                  <a:srgbClr val="333333"/>
                </a:solidFill>
              </a:rPr>
              <a:t>지원부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선원 카드: 사진·이름·직위</a:t>
            </a:r>
            <a:r>
              <a:rPr lang="en-US" altLang="ko-KR" sz="1600" dirty="0">
                <a:solidFill>
                  <a:srgbClr val="333333"/>
                </a:solidFill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</a:rPr>
              <a:t>신체정보</a:t>
            </a:r>
            <a:r>
              <a:rPr lang="en-US" altLang="ko-KR" sz="1600" dirty="0">
                <a:solidFill>
                  <a:srgbClr val="333333"/>
                </a:solidFill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</a:rPr>
              <a:t>기저질환</a:t>
            </a:r>
            <a:r>
              <a:rPr lang="en-US" altLang="ko-KR" sz="1600" dirty="0">
                <a:solidFill>
                  <a:srgbClr val="333333"/>
                </a:solidFill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</a:rPr>
              <a:t>알레르기</a:t>
            </a:r>
            <a:r>
              <a:rPr lang="en-US" altLang="ko-KR" sz="1600" dirty="0">
                <a:solidFill>
                  <a:srgbClr val="333333"/>
                </a:solidFill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</a:rPr>
              <a:t>긴급연락망</a:t>
            </a:r>
            <a:r>
              <a:rPr lang="en-US" altLang="ko-KR" sz="1600" dirty="0">
                <a:solidFill>
                  <a:srgbClr val="333333"/>
                </a:solidFill>
              </a:rPr>
              <a:t>, </a:t>
            </a:r>
            <a:r>
              <a:rPr lang="ko-KR" altLang="en-US" sz="1600" dirty="0">
                <a:solidFill>
                  <a:srgbClr val="333333"/>
                </a:solidFill>
              </a:rPr>
              <a:t>응급환자로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전환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신규 선원 등록 및 정보 수정 기능</a:t>
            </a:r>
            <a:endParaRPr lang="en-US" sz="1600" dirty="0"/>
          </a:p>
        </p:txBody>
      </p:sp>
      <p:sp>
        <p:nvSpPr>
          <p:cNvPr id="5" name="직사각형 3"/>
          <p:cNvSpPr/>
          <p:nvPr/>
        </p:nvSpPr>
        <p:spPr>
          <a:xfrm>
            <a:off x="-2540" y="-3808"/>
            <a:ext cx="2743201" cy="685799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6" name="직사각형 1"/>
          <p:cNvSpPr/>
          <p:nvPr/>
        </p:nvSpPr>
        <p:spPr>
          <a:xfrm>
            <a:off x="-2540" y="-3808"/>
            <a:ext cx="2743201" cy="6857996"/>
          </a:xfrm>
          <a:prstGeom prst="rect">
            <a:avLst/>
          </a:prstGeom>
          <a:solidFill>
            <a:srgbClr val="696969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grpSp>
        <p:nvGrpSpPr>
          <p:cNvPr id="7" name="그룹 2"/>
          <p:cNvGrpSpPr/>
          <p:nvPr/>
        </p:nvGrpSpPr>
        <p:grpSpPr>
          <a:xfrm rot="0">
            <a:off x="283516" y="431574"/>
            <a:ext cx="2171065" cy="605398"/>
            <a:chOff x="276836" y="269845"/>
            <a:chExt cx="2171065" cy="605398"/>
          </a:xfrm>
        </p:grpSpPr>
        <p:sp>
          <p:nvSpPr>
            <p:cNvPr id="8" name="TextBox 4"/>
            <p:cNvSpPr txBox="1"/>
            <p:nvPr/>
          </p:nvSpPr>
          <p:spPr>
            <a:xfrm>
              <a:off x="276836" y="269845"/>
              <a:ext cx="872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 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6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MAIN_CREW_01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7"/>
          <p:cNvGrpSpPr/>
          <p:nvPr/>
        </p:nvGrpSpPr>
        <p:grpSpPr>
          <a:xfrm rot="0">
            <a:off x="283516" y="1314698"/>
            <a:ext cx="2171065" cy="605398"/>
            <a:chOff x="276836" y="1474033"/>
            <a:chExt cx="2171065" cy="605398"/>
          </a:xfrm>
        </p:grpSpPr>
        <p:sp>
          <p:nvSpPr>
            <p:cNvPr id="11" name="TextBox 8"/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9"/>
            <p:cNvSpPr txBox="1"/>
            <p:nvPr/>
          </p:nvSpPr>
          <p:spPr>
            <a:xfrm>
              <a:off x="276836" y="1805111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선원 관리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그룹 20"/>
          <p:cNvGrpSpPr/>
          <p:nvPr/>
        </p:nvGrpSpPr>
        <p:grpSpPr>
          <a:xfrm rot="0">
            <a:off x="283516" y="2382488"/>
            <a:ext cx="2171065" cy="605398"/>
            <a:chOff x="276836" y="2678221"/>
            <a:chExt cx="2171065" cy="605398"/>
          </a:xfrm>
        </p:grpSpPr>
        <p:sp>
          <p:nvSpPr>
            <p:cNvPr id="14" name="TextBox 21"/>
            <p:cNvSpPr txBox="1"/>
            <p:nvPr/>
          </p:nvSpPr>
          <p:spPr>
            <a:xfrm>
              <a:off x="276836" y="2678221"/>
              <a:ext cx="1898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관련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유스케이스</a:t>
              </a:r>
              <a:r>
                <a:rPr lang="ko-KR" altLang="en-US" sz="16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22"/>
            <p:cNvSpPr txBox="1"/>
            <p:nvPr/>
          </p:nvSpPr>
          <p:spPr>
            <a:xfrm>
              <a:off x="276836" y="3009299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UC_CREW_01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그룹 23"/>
          <p:cNvGrpSpPr/>
          <p:nvPr/>
        </p:nvGrpSpPr>
        <p:grpSpPr>
          <a:xfrm rot="0">
            <a:off x="283516" y="5810729"/>
            <a:ext cx="2171065" cy="788278"/>
            <a:chOff x="276836" y="3666966"/>
            <a:chExt cx="2171065" cy="788278"/>
          </a:xfrm>
        </p:grpSpPr>
        <p:sp>
          <p:nvSpPr>
            <p:cNvPr id="17" name="TextBox 24"/>
            <p:cNvSpPr txBox="1"/>
            <p:nvPr/>
          </p:nvSpPr>
          <p:spPr>
            <a:xfrm>
              <a:off x="276836" y="366696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작성자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25"/>
            <p:cNvSpPr txBox="1"/>
            <p:nvPr/>
          </p:nvSpPr>
          <p:spPr>
            <a:xfrm>
              <a:off x="276836" y="3998044"/>
              <a:ext cx="2171065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ko-KR" altLang="en-US" sz="1200" dirty="0">
                  <a:solidFill>
                    <a:schemeClr val="bg1"/>
                  </a:solidFill>
                </a:rPr>
                <a:t>팀장 </a:t>
              </a:r>
              <a:r>
                <a:rPr lang="en-US" altLang="ko-KR" sz="1200" dirty="0">
                  <a:solidFill>
                    <a:schemeClr val="bg1"/>
                  </a:solidFill>
                </a:rPr>
                <a:t> </a:t>
              </a:r>
              <a:r>
                <a:rPr lang="ko-KR" altLang="en-US" sz="1200" dirty="0">
                  <a:solidFill>
                    <a:schemeClr val="bg1"/>
                  </a:solidFill>
                </a:rPr>
                <a:t>송승현 </a:t>
              </a:r>
              <a:endParaRPr lang="en-US" altLang="ko-KR" sz="1200" dirty="0">
                <a:solidFill>
                  <a:schemeClr val="bg1"/>
                </a:solidFill>
              </a:endParaRPr>
            </a:p>
            <a:p>
              <a:pPr lvl="0"/>
              <a:r>
                <a:rPr lang="ko-KR" altLang="en-US" sz="1200" dirty="0">
                  <a:solidFill>
                    <a:schemeClr val="bg1"/>
                  </a:solidFill>
                </a:rPr>
                <a:t>팀원 이엘리사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그룹 38"/>
          <p:cNvGrpSpPr/>
          <p:nvPr/>
        </p:nvGrpSpPr>
        <p:grpSpPr>
          <a:xfrm rot="0">
            <a:off x="283515" y="3286253"/>
            <a:ext cx="2171065" cy="605398"/>
            <a:chOff x="276836" y="269845"/>
            <a:chExt cx="2171065" cy="605398"/>
          </a:xfrm>
        </p:grpSpPr>
        <p:sp>
          <p:nvSpPr>
            <p:cNvPr id="20" name="TextBox 39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화면개요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40"/>
            <p:cNvSpPr txBox="1"/>
            <p:nvPr/>
          </p:nvSpPr>
          <p:spPr>
            <a:xfrm>
              <a:off x="276836" y="600923"/>
              <a:ext cx="2171065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전체 선원 목록 및</a:t>
              </a:r>
              <a:endParaRPr lang="en-US" altLang="ko-KR" sz="1200" dirty="0">
                <a:solidFill>
                  <a:srgbClr val="ffffff"/>
                </a:solidFill>
              </a:endParaRPr>
            </a:p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응급 환자 관리 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그룹 11"/>
          <p:cNvGrpSpPr/>
          <p:nvPr/>
        </p:nvGrpSpPr>
        <p:grpSpPr>
          <a:xfrm rot="0">
            <a:off x="283515" y="4500455"/>
            <a:ext cx="2371725" cy="605398"/>
            <a:chOff x="276836" y="269845"/>
            <a:chExt cx="2171368" cy="605398"/>
          </a:xfrm>
        </p:grpSpPr>
        <p:sp>
          <p:nvSpPr>
            <p:cNvPr id="23" name="TextBox 12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메뉴경로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13"/>
            <p:cNvSpPr txBox="1"/>
            <p:nvPr/>
          </p:nvSpPr>
          <p:spPr>
            <a:xfrm>
              <a:off x="276836" y="600923"/>
              <a:ext cx="2171368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메인 / 선원 관리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5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52426" y="565308"/>
            <a:ext cx="8836655" cy="41244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4"/>
          <p:cNvSpPr/>
          <p:nvPr/>
        </p:nvSpPr>
        <p:spPr>
          <a:xfrm>
            <a:off x="2852421" y="4690109"/>
            <a:ext cx="8836661" cy="192024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093720" y="4880609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화면설명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3093720" y="5123687"/>
            <a:ext cx="7244082" cy="137160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하단 탭: 심폐소생술 등 8종 처치 유형 선택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단계별 처치 카드 (</a:t>
            </a:r>
            <a:r>
              <a:rPr lang="ko-KR" altLang="en-US" sz="1600" dirty="0">
                <a:solidFill>
                  <a:srgbClr val="333333"/>
                </a:solidFill>
              </a:rPr>
              <a:t>넘버링</a:t>
            </a:r>
            <a:r>
              <a:rPr lang="en-US" sz="1600" dirty="0">
                <a:solidFill>
                  <a:srgbClr val="333333"/>
                </a:solidFill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</a:rPr>
              <a:t>처치가이드</a:t>
            </a:r>
            <a:r>
              <a:rPr lang="en-US" sz="1600" dirty="0">
                <a:solidFill>
                  <a:srgbClr val="333333"/>
                </a:solidFill>
              </a:rPr>
              <a:t>·</a:t>
            </a:r>
            <a:r>
              <a:rPr lang="ko-KR" altLang="en-US" sz="1600" dirty="0">
                <a:solidFill>
                  <a:srgbClr val="333333"/>
                </a:solidFill>
              </a:rPr>
              <a:t>상세</a:t>
            </a:r>
            <a:r>
              <a:rPr lang="en-US" sz="1600" dirty="0">
                <a:solidFill>
                  <a:srgbClr val="333333"/>
                </a:solidFill>
              </a:rPr>
              <a:t>설명·권고사항)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처치 유형별 DO / 절대금기 가이드라인 표시</a:t>
            </a:r>
            <a:endParaRPr lang="en-US" altLang="ko-KR" sz="16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rgbClr val="333333"/>
                </a:solidFill>
              </a:rPr>
              <a:t>- </a:t>
            </a:r>
            <a:r>
              <a:rPr lang="en-US" sz="1600" dirty="0">
                <a:solidFill>
                  <a:srgbClr val="333333"/>
                </a:solidFill>
              </a:rPr>
              <a:t>실시간 바이탈 수치 (HR·SpO2·혈압·체온) 카드형 표시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</a:t>
            </a:r>
            <a:r>
              <a:rPr lang="ko-KR" altLang="en-US" sz="1600" dirty="0">
                <a:solidFill>
                  <a:srgbClr val="333333"/>
                </a:solidFill>
              </a:rPr>
              <a:t>대응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타임라인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기록</a:t>
            </a:r>
            <a:endParaRPr lang="en-US" sz="1600" dirty="0"/>
          </a:p>
        </p:txBody>
      </p:sp>
      <p:sp>
        <p:nvSpPr>
          <p:cNvPr id="23" name="직사각형 3"/>
          <p:cNvSpPr/>
          <p:nvPr/>
        </p:nvSpPr>
        <p:spPr>
          <a:xfrm>
            <a:off x="-2540" y="-3808"/>
            <a:ext cx="2743201" cy="685799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24" name="직사각형 1"/>
          <p:cNvSpPr/>
          <p:nvPr/>
        </p:nvSpPr>
        <p:spPr>
          <a:xfrm>
            <a:off x="-2540" y="-3808"/>
            <a:ext cx="2743201" cy="6857996"/>
          </a:xfrm>
          <a:prstGeom prst="rect">
            <a:avLst/>
          </a:prstGeom>
          <a:solidFill>
            <a:srgbClr val="696969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grpSp>
        <p:nvGrpSpPr>
          <p:cNvPr id="25" name="그룹 2"/>
          <p:cNvGrpSpPr/>
          <p:nvPr/>
        </p:nvGrpSpPr>
        <p:grpSpPr>
          <a:xfrm rot="0">
            <a:off x="283516" y="431574"/>
            <a:ext cx="2171065" cy="605398"/>
            <a:chOff x="276836" y="269845"/>
            <a:chExt cx="2171065" cy="605398"/>
          </a:xfrm>
        </p:grpSpPr>
        <p:sp>
          <p:nvSpPr>
            <p:cNvPr id="26" name="TextBox 4"/>
            <p:cNvSpPr txBox="1"/>
            <p:nvPr/>
          </p:nvSpPr>
          <p:spPr>
            <a:xfrm>
              <a:off x="276836" y="269845"/>
              <a:ext cx="872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 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6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MAIN_EMRG_01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그룹 7"/>
          <p:cNvGrpSpPr/>
          <p:nvPr/>
        </p:nvGrpSpPr>
        <p:grpSpPr>
          <a:xfrm rot="0">
            <a:off x="283516" y="1314698"/>
            <a:ext cx="2171065" cy="605398"/>
            <a:chOff x="276836" y="1474033"/>
            <a:chExt cx="2171065" cy="605398"/>
          </a:xfrm>
        </p:grpSpPr>
        <p:sp>
          <p:nvSpPr>
            <p:cNvPr id="29" name="TextBox 8"/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19"/>
            <p:cNvSpPr txBox="1"/>
            <p:nvPr/>
          </p:nvSpPr>
          <p:spPr>
            <a:xfrm>
              <a:off x="276836" y="1805111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응급처치 가이드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그룹 20"/>
          <p:cNvGrpSpPr/>
          <p:nvPr/>
        </p:nvGrpSpPr>
        <p:grpSpPr>
          <a:xfrm rot="0">
            <a:off x="283516" y="2382488"/>
            <a:ext cx="2171065" cy="605398"/>
            <a:chOff x="276836" y="2678221"/>
            <a:chExt cx="2171065" cy="605398"/>
          </a:xfrm>
        </p:grpSpPr>
        <p:sp>
          <p:nvSpPr>
            <p:cNvPr id="32" name="TextBox 21"/>
            <p:cNvSpPr txBox="1"/>
            <p:nvPr/>
          </p:nvSpPr>
          <p:spPr>
            <a:xfrm>
              <a:off x="276836" y="2678221"/>
              <a:ext cx="1898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관련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유스케이스</a:t>
              </a:r>
              <a:r>
                <a:rPr lang="ko-KR" altLang="en-US" sz="16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22"/>
            <p:cNvSpPr txBox="1"/>
            <p:nvPr/>
          </p:nvSpPr>
          <p:spPr>
            <a:xfrm>
              <a:off x="276836" y="3009299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UC_EMRG_01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그룹 23"/>
          <p:cNvGrpSpPr/>
          <p:nvPr/>
        </p:nvGrpSpPr>
        <p:grpSpPr>
          <a:xfrm rot="0">
            <a:off x="283516" y="5810729"/>
            <a:ext cx="2171065" cy="788278"/>
            <a:chOff x="276836" y="3666966"/>
            <a:chExt cx="2171065" cy="788278"/>
          </a:xfrm>
        </p:grpSpPr>
        <p:sp>
          <p:nvSpPr>
            <p:cNvPr id="35" name="TextBox 24"/>
            <p:cNvSpPr txBox="1"/>
            <p:nvPr/>
          </p:nvSpPr>
          <p:spPr>
            <a:xfrm>
              <a:off x="276836" y="366696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작성자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25"/>
            <p:cNvSpPr txBox="1"/>
            <p:nvPr/>
          </p:nvSpPr>
          <p:spPr>
            <a:xfrm>
              <a:off x="276836" y="3998044"/>
              <a:ext cx="2171065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ko-KR" altLang="en-US" sz="1200" dirty="0">
                  <a:solidFill>
                    <a:schemeClr val="bg1"/>
                  </a:solidFill>
                </a:rPr>
                <a:t>팀장 </a:t>
              </a:r>
              <a:r>
                <a:rPr lang="en-US" altLang="ko-KR" sz="1200" dirty="0">
                  <a:solidFill>
                    <a:schemeClr val="bg1"/>
                  </a:solidFill>
                </a:rPr>
                <a:t> </a:t>
              </a:r>
              <a:r>
                <a:rPr lang="ko-KR" altLang="en-US" sz="1200" dirty="0">
                  <a:solidFill>
                    <a:schemeClr val="bg1"/>
                  </a:solidFill>
                </a:rPr>
                <a:t>송승현 </a:t>
              </a:r>
              <a:endParaRPr lang="en-US" altLang="ko-KR" sz="1200" dirty="0">
                <a:solidFill>
                  <a:schemeClr val="bg1"/>
                </a:solidFill>
              </a:endParaRPr>
            </a:p>
            <a:p>
              <a:pPr lvl="0"/>
              <a:r>
                <a:rPr lang="ko-KR" altLang="en-US" sz="1200" dirty="0">
                  <a:solidFill>
                    <a:schemeClr val="bg1"/>
                  </a:solidFill>
                </a:rPr>
                <a:t>팀원 이엘리사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그룹 38"/>
          <p:cNvGrpSpPr/>
          <p:nvPr/>
        </p:nvGrpSpPr>
        <p:grpSpPr>
          <a:xfrm rot="0">
            <a:off x="283515" y="3286253"/>
            <a:ext cx="2171065" cy="788278"/>
            <a:chOff x="276836" y="269845"/>
            <a:chExt cx="2171065" cy="788278"/>
          </a:xfrm>
        </p:grpSpPr>
        <p:sp>
          <p:nvSpPr>
            <p:cNvPr id="38" name="TextBox 39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화면개요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9" name="TextBox 40"/>
            <p:cNvSpPr txBox="1"/>
            <p:nvPr/>
          </p:nvSpPr>
          <p:spPr>
            <a:xfrm>
              <a:off x="276836" y="600923"/>
              <a:ext cx="2171065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단계별 응급처치 </a:t>
              </a:r>
              <a:endParaRPr lang="en-US" altLang="ko-KR" sz="1200" dirty="0">
                <a:solidFill>
                  <a:srgbClr val="ffffff"/>
                </a:solidFill>
              </a:endParaRPr>
            </a:p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프로토콜 안내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그룹 11"/>
          <p:cNvGrpSpPr/>
          <p:nvPr/>
        </p:nvGrpSpPr>
        <p:grpSpPr>
          <a:xfrm rot="0">
            <a:off x="283515" y="4500455"/>
            <a:ext cx="2371725" cy="605398"/>
            <a:chOff x="276836" y="269845"/>
            <a:chExt cx="2171368" cy="605398"/>
          </a:xfrm>
        </p:grpSpPr>
        <p:sp>
          <p:nvSpPr>
            <p:cNvPr id="41" name="TextBox 12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메뉴경로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TextBox 13"/>
            <p:cNvSpPr txBox="1"/>
            <p:nvPr/>
          </p:nvSpPr>
          <p:spPr>
            <a:xfrm>
              <a:off x="276836" y="600923"/>
              <a:ext cx="2171368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메인 / 응급처치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43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52420" y="555408"/>
            <a:ext cx="8836661" cy="41342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"/>
          <p:cNvSpPr/>
          <p:nvPr/>
        </p:nvSpPr>
        <p:spPr>
          <a:xfrm>
            <a:off x="2852421" y="4690109"/>
            <a:ext cx="8836661" cy="192024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5"/>
          <p:cNvSpPr/>
          <p:nvPr/>
        </p:nvSpPr>
        <p:spPr>
          <a:xfrm>
            <a:off x="3093720" y="4880609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화면설명</a:t>
            </a:r>
            <a:endParaRPr lang="en-US" sz="1700" dirty="0"/>
          </a:p>
        </p:txBody>
      </p:sp>
      <p:sp>
        <p:nvSpPr>
          <p:cNvPr id="4" name="Text 16"/>
          <p:cNvSpPr/>
          <p:nvPr/>
        </p:nvSpPr>
        <p:spPr>
          <a:xfrm>
            <a:off x="3093720" y="5123687"/>
            <a:ext cx="7244082" cy="1371600"/>
          </a:xfrm>
          <a:prstGeom prst="rect">
            <a:avLst/>
          </a:prstGeom>
          <a:noFill/>
          <a:ln/>
        </p:spPr>
        <p:txBody>
          <a:bodyPr wrap="square" rtlCol="0" anchor="ctr"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기기 정보: 선박명·기기</a:t>
            </a:r>
            <a:r>
              <a:rPr lang="ko-KR" altLang="en-US" sz="1600" dirty="0">
                <a:solidFill>
                  <a:srgbClr val="333333"/>
                </a:solidFill>
              </a:rPr>
              <a:t>관리</a:t>
            </a:r>
            <a:r>
              <a:rPr lang="en-US" sz="1600" dirty="0">
                <a:solidFill>
                  <a:srgbClr val="333333"/>
                </a:solidFill>
              </a:rPr>
              <a:t>번호·시리얼 번호 편집 가능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시스템 상태: 네트워크 지연·CPU 사용률 실시간 표시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 보안 암호화·알림·원격의료 연결 설정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-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최근시스템</a:t>
            </a:r>
            <a:r>
              <a:rPr lang="en-US" altLang="ko-KR" sz="1600" dirty="0">
                <a:solidFill>
                  <a:srgbClr val="333333"/>
                </a:solidFill>
              </a:rPr>
              <a:t> </a:t>
            </a:r>
            <a:r>
              <a:rPr lang="ko-KR" altLang="en-US" sz="1600" dirty="0">
                <a:solidFill>
                  <a:srgbClr val="333333"/>
                </a:solidFill>
              </a:rPr>
              <a:t>기록</a:t>
            </a:r>
            <a:endParaRPr lang="en-US" sz="1600" dirty="0"/>
          </a:p>
        </p:txBody>
      </p:sp>
      <p:sp>
        <p:nvSpPr>
          <p:cNvPr id="5" name="직사각형 3"/>
          <p:cNvSpPr/>
          <p:nvPr/>
        </p:nvSpPr>
        <p:spPr>
          <a:xfrm>
            <a:off x="-2540" y="-3808"/>
            <a:ext cx="2743201" cy="685799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sp>
        <p:nvSpPr>
          <p:cNvPr id="6" name="직사각형 1"/>
          <p:cNvSpPr/>
          <p:nvPr/>
        </p:nvSpPr>
        <p:spPr>
          <a:xfrm>
            <a:off x="-2540" y="-3808"/>
            <a:ext cx="2743201" cy="6857996"/>
          </a:xfrm>
          <a:prstGeom prst="rect">
            <a:avLst/>
          </a:prstGeom>
          <a:solidFill>
            <a:srgbClr val="696969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600"/>
          </a:p>
        </p:txBody>
      </p:sp>
      <p:grpSp>
        <p:nvGrpSpPr>
          <p:cNvPr id="7" name="그룹 2"/>
          <p:cNvGrpSpPr/>
          <p:nvPr/>
        </p:nvGrpSpPr>
        <p:grpSpPr>
          <a:xfrm rot="0">
            <a:off x="283516" y="431574"/>
            <a:ext cx="2171065" cy="605398"/>
            <a:chOff x="276836" y="269845"/>
            <a:chExt cx="2171065" cy="605398"/>
          </a:xfrm>
        </p:grpSpPr>
        <p:sp>
          <p:nvSpPr>
            <p:cNvPr id="8" name="TextBox 4"/>
            <p:cNvSpPr txBox="1"/>
            <p:nvPr/>
          </p:nvSpPr>
          <p:spPr>
            <a:xfrm>
              <a:off x="276836" y="269845"/>
              <a:ext cx="8723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 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6"/>
            <p:cNvSpPr txBox="1"/>
            <p:nvPr/>
          </p:nvSpPr>
          <p:spPr>
            <a:xfrm>
              <a:off x="276836" y="600923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MAIN_SETT_01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7"/>
          <p:cNvGrpSpPr/>
          <p:nvPr/>
        </p:nvGrpSpPr>
        <p:grpSpPr>
          <a:xfrm rot="0">
            <a:off x="283516" y="1314698"/>
            <a:ext cx="2171065" cy="605398"/>
            <a:chOff x="276836" y="1474033"/>
            <a:chExt cx="2171065" cy="605398"/>
          </a:xfrm>
        </p:grpSpPr>
        <p:sp>
          <p:nvSpPr>
            <p:cNvPr id="11" name="TextBox 8"/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9"/>
            <p:cNvSpPr txBox="1"/>
            <p:nvPr/>
          </p:nvSpPr>
          <p:spPr>
            <a:xfrm>
              <a:off x="276836" y="1805111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시스템 설정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그룹 20"/>
          <p:cNvGrpSpPr/>
          <p:nvPr/>
        </p:nvGrpSpPr>
        <p:grpSpPr>
          <a:xfrm rot="0">
            <a:off x="283516" y="2382488"/>
            <a:ext cx="2171065" cy="605398"/>
            <a:chOff x="276836" y="2678221"/>
            <a:chExt cx="2171065" cy="605398"/>
          </a:xfrm>
        </p:grpSpPr>
        <p:sp>
          <p:nvSpPr>
            <p:cNvPr id="14" name="TextBox 21"/>
            <p:cNvSpPr txBox="1"/>
            <p:nvPr/>
          </p:nvSpPr>
          <p:spPr>
            <a:xfrm>
              <a:off x="276836" y="2678221"/>
              <a:ext cx="18982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관련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유스케이스</a:t>
              </a:r>
              <a:r>
                <a:rPr lang="ko-KR" altLang="en-US" sz="16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ID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22"/>
            <p:cNvSpPr txBox="1"/>
            <p:nvPr/>
          </p:nvSpPr>
          <p:spPr>
            <a:xfrm>
              <a:off x="276836" y="3009299"/>
              <a:ext cx="2171065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UC_SETT_01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그룹 23"/>
          <p:cNvGrpSpPr/>
          <p:nvPr/>
        </p:nvGrpSpPr>
        <p:grpSpPr>
          <a:xfrm rot="0">
            <a:off x="283516" y="5810729"/>
            <a:ext cx="2171065" cy="788278"/>
            <a:chOff x="276836" y="3666966"/>
            <a:chExt cx="2171065" cy="788278"/>
          </a:xfrm>
        </p:grpSpPr>
        <p:sp>
          <p:nvSpPr>
            <p:cNvPr id="17" name="TextBox 24"/>
            <p:cNvSpPr txBox="1"/>
            <p:nvPr/>
          </p:nvSpPr>
          <p:spPr>
            <a:xfrm>
              <a:off x="276836" y="3666966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작성자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25"/>
            <p:cNvSpPr txBox="1"/>
            <p:nvPr/>
          </p:nvSpPr>
          <p:spPr>
            <a:xfrm>
              <a:off x="276836" y="3998044"/>
              <a:ext cx="2171065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ko-KR" altLang="en-US" sz="1200" dirty="0">
                  <a:solidFill>
                    <a:schemeClr val="bg1"/>
                  </a:solidFill>
                </a:rPr>
                <a:t>팀장 </a:t>
              </a:r>
              <a:r>
                <a:rPr lang="en-US" altLang="ko-KR" sz="1200" dirty="0">
                  <a:solidFill>
                    <a:schemeClr val="bg1"/>
                  </a:solidFill>
                </a:rPr>
                <a:t> </a:t>
              </a:r>
              <a:r>
                <a:rPr lang="ko-KR" altLang="en-US" sz="1200" dirty="0">
                  <a:solidFill>
                    <a:schemeClr val="bg1"/>
                  </a:solidFill>
                </a:rPr>
                <a:t>송승현 </a:t>
              </a:r>
              <a:endParaRPr lang="en-US" altLang="ko-KR" sz="1200" dirty="0">
                <a:solidFill>
                  <a:schemeClr val="bg1"/>
                </a:solidFill>
              </a:endParaRPr>
            </a:p>
            <a:p>
              <a:pPr lvl="0"/>
              <a:r>
                <a:rPr lang="ko-KR" altLang="en-US" sz="1200" dirty="0">
                  <a:solidFill>
                    <a:schemeClr val="bg1"/>
                  </a:solidFill>
                </a:rPr>
                <a:t>팀원 이엘리사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그룹 38"/>
          <p:cNvGrpSpPr/>
          <p:nvPr/>
        </p:nvGrpSpPr>
        <p:grpSpPr>
          <a:xfrm rot="0">
            <a:off x="283515" y="3286253"/>
            <a:ext cx="2171065" cy="788278"/>
            <a:chOff x="276836" y="269845"/>
            <a:chExt cx="2171065" cy="788278"/>
          </a:xfrm>
        </p:grpSpPr>
        <p:sp>
          <p:nvSpPr>
            <p:cNvPr id="20" name="TextBox 39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화면개요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40"/>
            <p:cNvSpPr txBox="1"/>
            <p:nvPr/>
          </p:nvSpPr>
          <p:spPr>
            <a:xfrm>
              <a:off x="276836" y="600923"/>
              <a:ext cx="2171065" cy="457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기기 정보 관리 및 </a:t>
              </a:r>
              <a:endParaRPr lang="en-US" altLang="ko-KR" sz="1200" dirty="0">
                <a:solidFill>
                  <a:srgbClr val="ffffff"/>
                </a:solidFill>
              </a:endParaRPr>
            </a:p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시스템 상태 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그룹 11"/>
          <p:cNvGrpSpPr/>
          <p:nvPr/>
        </p:nvGrpSpPr>
        <p:grpSpPr>
          <a:xfrm rot="0">
            <a:off x="283515" y="4500455"/>
            <a:ext cx="2371725" cy="605398"/>
            <a:chOff x="276836" y="269845"/>
            <a:chExt cx="2171368" cy="605398"/>
          </a:xfrm>
        </p:grpSpPr>
        <p:sp>
          <p:nvSpPr>
            <p:cNvPr id="23" name="TextBox 12"/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/>
              <a:r>
                <a:rPr lang="ko-KR" altLang="en-US" sz="1600" b="1" dirty="0">
                  <a:solidFill>
                    <a:schemeClr val="bg1"/>
                  </a:solidFill>
                </a:rPr>
                <a:t>메뉴경로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13"/>
            <p:cNvSpPr txBox="1"/>
            <p:nvPr/>
          </p:nvSpPr>
          <p:spPr>
            <a:xfrm>
              <a:off x="276836" y="600923"/>
              <a:ext cx="2171368" cy="274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/>
              <a:r>
                <a:rPr lang="en-US" sz="1200" dirty="0">
                  <a:solidFill>
                    <a:srgbClr val="ffffff"/>
                  </a:solidFill>
                </a:rPr>
                <a:t>메인 / 시스템 설정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5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52420" y="455727"/>
            <a:ext cx="8836661" cy="42338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629</ep:Words>
  <ep:PresentationFormat>On-screen Show (16:9)</ep:PresentationFormat>
  <ep:Paragraphs>86</ep:Paragraphs>
  <ep:Slides>10</ep:Slides>
  <ep:Notes>25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2026-04-20T09:29:19.000</dcterms:created>
  <dc:creator>eelishalee</dc:creator>
  <cp:lastModifiedBy>eelishalee</cp:lastModifiedBy>
  <dcterms:modified xsi:type="dcterms:W3CDTF">2026-04-21T06:36:36.664</dcterms:modified>
  <cp:revision>3</cp:revision>
  <dc:subject>PptxGenJS Presentation</dc:subject>
  <dc:title>MDTS 화면설계서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